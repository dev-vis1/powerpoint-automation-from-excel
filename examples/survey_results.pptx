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Responses</c:v>
                </c:pt>
              </c:strCache>
            </c:strRef>
          </c:tx>
          <c:spPr>
            <a:solidFill>
              <a:srgbClr val="107370"/>
            </a:solidFill>
          </c:spPr>
          <c:cat>
            <c:strRef>
              <c:f>Sheet1!$A$2:$A$6</c:f>
              <c:strCache>
                <c:ptCount val="5"/>
                <c:pt idx="0">
                  <c:v>5</c:v>
                </c:pt>
                <c:pt idx="1">
                  <c:v>4</c:v>
                </c:pt>
                <c:pt idx="2">
                  <c:v>3</c:v>
                </c:pt>
                <c:pt idx="3">
                  <c:v>2</c:v>
                </c:pt>
                <c:pt idx="4">
                  <c:v>1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6</c:v>
                </c:pt>
                <c:pt idx="1">
                  <c:v>10</c:v>
                </c:pt>
                <c:pt idx="2">
                  <c:v>5</c:v>
                </c:pt>
                <c:pt idx="3">
                  <c:v>3</c:v>
                </c:pt>
                <c:pt idx="4">
                  <c:v>0</c:v>
                </c:pt>
              </c:numCache>
            </c:numRef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2.0"/>
          <c:min val="0.0"/>
        </c:scaling>
        <c:delete val="0"/>
        <c:axPos val="b"/>
        <c:majorGridlines/>
        <c:majorTickMark val="out"/>
        <c:minorTickMark val="none"/>
        <c:tickLblPos val="nextTo"/>
        <c:crossAx val="-2068027336"/>
        <c:crosses val="autoZero"/>
        <c:majorUnit val="3.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Responses</c:v>
                </c:pt>
              </c:strCache>
            </c:strRef>
          </c:tx>
          <c:spPr>
            <a:solidFill>
              <a:srgbClr val="DF6F53"/>
            </a:solidFill>
          </c:spPr>
          <c:cat>
            <c:strRef>
              <c:f>Sheet1!$A$2:$A$6</c:f>
              <c:strCache>
                <c:ptCount val="5"/>
                <c:pt idx="0">
                  <c:v>Reporting</c:v>
                </c:pt>
                <c:pt idx="1">
                  <c:v>Training</c:v>
                </c:pt>
                <c:pt idx="2">
                  <c:v>Speed</c:v>
                </c:pt>
                <c:pt idx="3">
                  <c:v>Integrations</c:v>
                </c:pt>
                <c:pt idx="4">
                  <c:v>Mobile access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7</c:v>
                </c:pt>
                <c:pt idx="1">
                  <c:v>5</c:v>
                </c:pt>
                <c:pt idx="2">
                  <c:v>5</c:v>
                </c:pt>
                <c:pt idx="3">
                  <c:v>4</c:v>
                </c:pt>
                <c:pt idx="4">
                  <c:v>3</c:v>
                </c:pt>
              </c:numCache>
            </c:numRef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9.0"/>
          <c:min val="0.0"/>
        </c:scaling>
        <c:delete val="0"/>
        <c:axPos val="b"/>
        <c:majorGridlines/>
        <c:majorTickMark val="out"/>
        <c:minorTickMark val="none"/>
        <c:tickLblPos val="nextTo"/>
        <c:crossAx val="-2068027336"/>
        <c:crosses val="autoZero"/>
        <c:majorUnit val="3.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073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320040"/>
            <a:ext cx="4572000" cy="274320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defRPr sz="1100" b="1">
                <a:solidFill>
                  <a:srgbClr val="107370"/>
                </a:solidFill>
                <a:latin typeface="Aptos"/>
              </a:defRPr>
            </a:pPr>
            <a:r>
              <a:t>SURVEY SNAPSHOT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04672"/>
            <a:ext cx="10972800" cy="594360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defRPr sz="2900" b="1">
                <a:solidFill>
                  <a:srgbClr val="1D3035"/>
                </a:solidFill>
                <a:latin typeface="Aptos"/>
              </a:defRPr>
            </a:pPr>
            <a:r>
              <a:t>How respondents feel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6473952"/>
            <a:ext cx="7315200" cy="219456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defRPr sz="1000" b="0">
                <a:solidFill>
                  <a:srgbClr val="5F7072"/>
                </a:solidFill>
                <a:latin typeface="Aptos"/>
              </a:defRPr>
            </a:pPr>
            <a:r>
              <a:t>Source: Responses worksheet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73952"/>
            <a:ext cx="640080" cy="219456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defRPr sz="1000" b="0">
                <a:solidFill>
                  <a:srgbClr val="5F7072"/>
                </a:solidFill>
                <a:latin typeface="Aptos"/>
              </a:defRPr>
            </a:pPr>
            <a:r>
              <a:t>1 / 3</a:t>
            </a:r>
          </a:p>
        </p:txBody>
      </p:sp>
      <p:sp>
        <p:nvSpPr>
          <p:cNvPr id="7" name="Rectangle 6"/>
          <p:cNvSpPr/>
          <p:nvPr/>
        </p:nvSpPr>
        <p:spPr>
          <a:xfrm>
            <a:off x="530352" y="1783080"/>
            <a:ext cx="3429000" cy="1417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8952" y="1938528"/>
            <a:ext cx="2926080" cy="585216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defRPr sz="3000" b="1">
                <a:solidFill>
                  <a:srgbClr val="107370"/>
                </a:solidFill>
                <a:latin typeface="Aptos"/>
              </a:defRPr>
            </a:pPr>
            <a:r>
              <a:t>24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" y="2624328"/>
            <a:ext cx="2926080" cy="329184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defRPr sz="1400" b="0">
                <a:solidFill>
                  <a:srgbClr val="5F7072"/>
                </a:solidFill>
                <a:latin typeface="Aptos"/>
              </a:defRPr>
            </a:pPr>
            <a:r>
              <a:t>Responses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51376" y="1783080"/>
            <a:ext cx="3429000" cy="1417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79976" y="1938528"/>
            <a:ext cx="2926080" cy="585216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defRPr sz="3000" b="1">
                <a:solidFill>
                  <a:srgbClr val="107370"/>
                </a:solidFill>
                <a:latin typeface="Aptos"/>
              </a:defRPr>
            </a:pPr>
            <a:r>
              <a:t>3.8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79976" y="2624328"/>
            <a:ext cx="2926080" cy="329184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defRPr sz="1400" b="0">
                <a:solidFill>
                  <a:srgbClr val="5F7072"/>
                </a:solidFill>
                <a:latin typeface="Aptos"/>
              </a:defRPr>
            </a:pPr>
            <a:r>
              <a:t>Average satisfaction / 5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0" y="1783080"/>
            <a:ext cx="3429000" cy="1417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01000" y="1938528"/>
            <a:ext cx="2926080" cy="585216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defRPr sz="3000" b="1">
                <a:solidFill>
                  <a:srgbClr val="107370"/>
                </a:solidFill>
                <a:latin typeface="Aptos"/>
              </a:defRPr>
            </a:pPr>
            <a:r>
              <a:t>67%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01000" y="2624328"/>
            <a:ext cx="2926080" cy="329184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defRPr sz="1400" b="0">
                <a:solidFill>
                  <a:srgbClr val="5F7072"/>
                </a:solidFill>
                <a:latin typeface="Aptos"/>
              </a:defRPr>
            </a:pPr>
            <a:r>
              <a:t>Recommend score 8-10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0352" y="3794760"/>
            <a:ext cx="6400800" cy="292608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defRPr sz="1300" b="1">
                <a:solidFill>
                  <a:srgbClr val="107370"/>
                </a:solidFill>
                <a:latin typeface="Aptos"/>
              </a:defRPr>
            </a:pPr>
            <a:r>
              <a:t>PARTICIPATION BY DEPARTMENT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0352" y="4251960"/>
            <a:ext cx="4572000" cy="292608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defRPr sz="1700" b="0">
                <a:solidFill>
                  <a:srgbClr val="1D3035"/>
                </a:solidFill>
                <a:latin typeface="Aptos"/>
              </a:defRPr>
            </a:pPr>
            <a:r>
              <a:t>Sales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12080" y="4251960"/>
            <a:ext cx="914400" cy="292608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defRPr sz="1700" b="1">
                <a:solidFill>
                  <a:srgbClr val="1D3035"/>
                </a:solidFill>
                <a:latin typeface="Aptos"/>
              </a:defRPr>
            </a:pPr>
            <a:r>
              <a:t>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0352" y="4645152"/>
            <a:ext cx="4572000" cy="292608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defRPr sz="1700" b="0">
                <a:solidFill>
                  <a:srgbClr val="1D3035"/>
                </a:solidFill>
                <a:latin typeface="Aptos"/>
              </a:defRPr>
            </a:pPr>
            <a:r>
              <a:t>Support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12080" y="4645152"/>
            <a:ext cx="914400" cy="292608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defRPr sz="1700" b="1">
                <a:solidFill>
                  <a:srgbClr val="1D3035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0352" y="5038344"/>
            <a:ext cx="4572000" cy="292608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defRPr sz="1700" b="0">
                <a:solidFill>
                  <a:srgbClr val="1D3035"/>
                </a:solidFill>
                <a:latin typeface="Aptos"/>
              </a:defRPr>
            </a:pPr>
            <a:r>
              <a:t>Operations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12080" y="5038344"/>
            <a:ext cx="914400" cy="292608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defRPr sz="1700" b="1">
                <a:solidFill>
                  <a:srgbClr val="1D3035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352" y="5431536"/>
            <a:ext cx="4572000" cy="292608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defRPr sz="1700" b="0">
                <a:solidFill>
                  <a:srgbClr val="1D3035"/>
                </a:solidFill>
                <a:latin typeface="Aptos"/>
              </a:defRPr>
            </a:pPr>
            <a:r>
              <a:t>Finance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12080" y="5431536"/>
            <a:ext cx="914400" cy="292608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defRPr sz="1700" b="1">
                <a:solidFill>
                  <a:srgbClr val="1D3035"/>
                </a:solidFill>
                <a:latin typeface="Aptos"/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073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320040"/>
            <a:ext cx="4572000" cy="274320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defRPr sz="1100" b="1">
                <a:solidFill>
                  <a:srgbClr val="107370"/>
                </a:solidFill>
                <a:latin typeface="Aptos"/>
              </a:defRPr>
            </a:pPr>
            <a:r>
              <a:t>SURVEY SNAPSHOT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04672"/>
            <a:ext cx="10972800" cy="594360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defRPr sz="2900" b="1">
                <a:solidFill>
                  <a:srgbClr val="1D3035"/>
                </a:solidFill>
                <a:latin typeface="Aptos"/>
              </a:defRPr>
            </a:pPr>
            <a:r>
              <a:t>Satisfaction distribution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6473952"/>
            <a:ext cx="7315200" cy="219456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defRPr sz="1000" b="0">
                <a:solidFill>
                  <a:srgbClr val="5F7072"/>
                </a:solidFill>
                <a:latin typeface="Aptos"/>
              </a:defRPr>
            </a:pPr>
            <a:r>
              <a:t>Source: Responses worksheet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73952"/>
            <a:ext cx="640080" cy="219456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defRPr sz="1000" b="0">
                <a:solidFill>
                  <a:srgbClr val="5F7072"/>
                </a:solidFill>
                <a:latin typeface="Aptos"/>
              </a:defRPr>
            </a:pPr>
            <a:r>
              <a:t>2 /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1490472"/>
            <a:ext cx="10058400" cy="365760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defRPr sz="1600" b="0">
                <a:solidFill>
                  <a:srgbClr val="5F7072"/>
                </a:solidFill>
                <a:latin typeface="Aptos"/>
              </a:defRPr>
            </a:pPr>
            <a:r>
              <a:t>Number of responses at each score (1 = low, 5 = high)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530352" y="1965960"/>
          <a:ext cx="10881360" cy="41605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073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320040"/>
            <a:ext cx="4572000" cy="274320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defRPr sz="1100" b="1">
                <a:solidFill>
                  <a:srgbClr val="107370"/>
                </a:solidFill>
                <a:latin typeface="Aptos"/>
              </a:defRPr>
            </a:pPr>
            <a:r>
              <a:t>SURVEY SNAPSHOT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04672"/>
            <a:ext cx="10972800" cy="594360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defRPr sz="2900" b="1">
                <a:solidFill>
                  <a:srgbClr val="1D3035"/>
                </a:solidFill>
                <a:latin typeface="Aptos"/>
              </a:defRPr>
            </a:pPr>
            <a:r>
              <a:t>Where to improve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6473952"/>
            <a:ext cx="7315200" cy="219456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defRPr sz="1000" b="0">
                <a:solidFill>
                  <a:srgbClr val="5F7072"/>
                </a:solidFill>
                <a:latin typeface="Aptos"/>
              </a:defRPr>
            </a:pPr>
            <a:r>
              <a:t>Source: Responses worksheet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73952"/>
            <a:ext cx="640080" cy="219456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defRPr sz="1000" b="0">
                <a:solidFill>
                  <a:srgbClr val="5F7072"/>
                </a:solidFill>
                <a:latin typeface="Aptos"/>
              </a:defRPr>
            </a:pPr>
            <a:r>
              <a:t>3 /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1490472"/>
            <a:ext cx="6400800" cy="365760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defRPr sz="1600" b="0">
                <a:solidFill>
                  <a:srgbClr val="5F7072"/>
                </a:solidFill>
                <a:latin typeface="Aptos"/>
              </a:defRPr>
            </a:pPr>
            <a:r>
              <a:t>Selected improvement area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530352" y="1938528"/>
          <a:ext cx="6766560" cy="42976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7635240" y="1956816"/>
            <a:ext cx="3749039" cy="347472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defRPr sz="1300" b="1">
                <a:solidFill>
                  <a:srgbClr val="107370"/>
                </a:solidFill>
                <a:latin typeface="Aptos"/>
              </a:defRPr>
            </a:pPr>
            <a:r>
              <a:t>IN THEIR WORDS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35240" y="2542032"/>
            <a:ext cx="3794760" cy="777240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defRPr sz="1600" b="0">
                <a:solidFill>
                  <a:srgbClr val="1D3035"/>
                </a:solidFill>
                <a:latin typeface="Aptos"/>
              </a:defRPr>
            </a:pPr>
            <a:r>
              <a:t>"The new dashboard saves me time."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35240" y="3584448"/>
            <a:ext cx="3794760" cy="777240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defRPr sz="1600" b="0">
                <a:solidFill>
                  <a:srgbClr val="1D3035"/>
                </a:solidFill>
                <a:latin typeface="Aptos"/>
              </a:defRPr>
            </a:pPr>
            <a:r>
              <a:t>"More examples in training would help."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35240" y="4626864"/>
            <a:ext cx="3794760" cy="777240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defRPr sz="1600" b="0">
                <a:solidFill>
                  <a:srgbClr val="1D3035"/>
                </a:solidFill>
                <a:latin typeface="Aptos"/>
              </a:defRPr>
            </a:pPr>
            <a:r>
              <a:t>"Pages take a while to load."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