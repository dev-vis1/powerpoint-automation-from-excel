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107370"/>
            </a:solidFill>
          </c:spPr>
          <c:cat>
            <c:strRef>
              <c:f>Sheet1!$A$2:$A$5</c:f>
              <c:strCache>
                <c:ptCount val="4"/>
                <c:pt idx="0">
                  <c:v>4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3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107370"/>
            </a:solidFill>
          </c:spPr>
          <c:cat>
            <c:strRef>
              <c:f>Sheet1!$A$2:$A$8</c:f>
              <c:strCache>
                <c:ptCount val="7"/>
                <c:pt idx="0">
                  <c:v>8</c:v>
                </c:pt>
                <c:pt idx="1">
                  <c:v>10</c:v>
                </c:pt>
                <c:pt idx="2">
                  <c:v>9</c:v>
                </c:pt>
                <c:pt idx="3">
                  <c:v>7</c:v>
                </c:pt>
                <c:pt idx="4">
                  <c:v>5</c:v>
                </c:pt>
                <c:pt idx="5">
                  <c:v>6</c:v>
                </c:pt>
                <c:pt idx="6">
                  <c:v>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107370"/>
            </a:solidFill>
          </c:spPr>
          <c:cat>
            <c:strRef>
              <c:f>Sheet1!$A$2:$A$5</c:f>
              <c:strCache>
                <c:ptCount val="4"/>
                <c:pt idx="0">
                  <c:v>Sales</c:v>
                </c:pt>
                <c:pt idx="1">
                  <c:v>Support</c:v>
                </c:pt>
                <c:pt idx="2">
                  <c:v>Operations</c:v>
                </c:pt>
                <c:pt idx="3">
                  <c:v>Finance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107370"/>
                </a:solidFill>
                <a:latin typeface="Aptos"/>
              </a:defRPr>
            </a:pPr>
            <a:r>
              <a:t>SURVEY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1D3035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6012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Source: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1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828800"/>
            <a:ext cx="10607040" cy="65836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700" b="1">
                <a:solidFill>
                  <a:srgbClr val="1D3035"/>
                </a:solidFill>
                <a:latin typeface="Aptos"/>
              </a:defRPr>
            </a:pPr>
            <a:r>
              <a:t>Employee survey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624328"/>
            <a:ext cx="1060704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0">
                <a:solidFill>
                  <a:srgbClr val="5F7072"/>
                </a:solidFill>
                <a:latin typeface="Aptos"/>
              </a:defRPr>
            </a:pPr>
            <a:r>
              <a:t>24 responses  |  Prepared for Team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657600"/>
            <a:ext cx="731520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107370"/>
                </a:solidFill>
                <a:latin typeface="Aptos"/>
              </a:defRPr>
            </a:pPr>
            <a:r>
              <a:t>KEY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4133087"/>
            <a:ext cx="1051560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600" b="0">
                <a:solidFill>
                  <a:srgbClr val="1D3035"/>
                </a:solidFill>
                <a:latin typeface="Aptos"/>
              </a:defRPr>
            </a:pPr>
            <a:r>
              <a:t>Satisfaction (1-5): 4 (10 of 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4654296"/>
            <a:ext cx="1051560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600" b="0">
                <a:solidFill>
                  <a:srgbClr val="1D3035"/>
                </a:solidFill>
                <a:latin typeface="Aptos"/>
              </a:defRPr>
            </a:pPr>
            <a:r>
              <a:t>Recommend (0-10): 8 (6 of 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5175503"/>
            <a:ext cx="1051560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600" b="0">
                <a:solidFill>
                  <a:srgbClr val="1D3035"/>
                </a:solidFill>
                <a:latin typeface="Aptos"/>
              </a:defRPr>
            </a:pPr>
            <a:r>
              <a:t>Department: Sales (7 of 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107370"/>
                </a:solidFill>
                <a:latin typeface="Aptos"/>
              </a:defRPr>
            </a:pPr>
            <a:r>
              <a:t>SURVEY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1D3035"/>
                </a:solidFill>
                <a:latin typeface="Aptos"/>
              </a:defRPr>
            </a:pPr>
            <a:r>
              <a:t>Satisfaction (1-5)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6012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Source: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2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655064"/>
            <a:ext cx="11064240" cy="42976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0">
                <a:solidFill>
                  <a:srgbClr val="5F7072"/>
                </a:solidFill>
                <a:latin typeface="Aptos"/>
              </a:defRPr>
            </a:pPr>
            <a:r>
              <a:t>24 of 24 answered  |  Most common: 4 (10)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2221992"/>
          <a:ext cx="107899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107370"/>
                </a:solidFill>
                <a:latin typeface="Aptos"/>
              </a:defRPr>
            </a:pPr>
            <a:r>
              <a:t>SURVEY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1D3035"/>
                </a:solidFill>
                <a:latin typeface="Aptos"/>
              </a:defRPr>
            </a:pPr>
            <a:r>
              <a:t>Recommend (0-10)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6012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Source: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3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655064"/>
            <a:ext cx="11064240" cy="42976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0">
                <a:solidFill>
                  <a:srgbClr val="5F7072"/>
                </a:solidFill>
                <a:latin typeface="Aptos"/>
              </a:defRPr>
            </a:pPr>
            <a:r>
              <a:t>24 of 24 answered  |  Most common: 8 (6)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2221992"/>
          <a:ext cx="107899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107370"/>
                </a:solidFill>
                <a:latin typeface="Aptos"/>
              </a:defRPr>
            </a:pPr>
            <a:r>
              <a:t>SURVEY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1D3035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6012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Source: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4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655064"/>
            <a:ext cx="11064240" cy="42976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500" b="0">
                <a:solidFill>
                  <a:srgbClr val="5F7072"/>
                </a:solidFill>
                <a:latin typeface="Aptos"/>
              </a:defRPr>
            </a:pPr>
            <a:r>
              <a:t>24 of 24 answered  |  Most common: Sales (7)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2221992"/>
          <a:ext cx="107899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107370"/>
                </a:solidFill>
                <a:latin typeface="Aptos"/>
              </a:defRPr>
            </a:pPr>
            <a:r>
              <a:t>SURVEY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1D3035"/>
                </a:solidFill>
                <a:latin typeface="Aptos"/>
              </a:defRPr>
            </a:pPr>
            <a:r>
              <a:t>In their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6012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Source: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5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691640"/>
            <a:ext cx="10515600" cy="39319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600" b="0">
                <a:solidFill>
                  <a:srgbClr val="5F7072"/>
                </a:solidFill>
                <a:latin typeface="Aptos"/>
              </a:defRPr>
            </a:pPr>
            <a:r>
              <a:t>Comment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340864"/>
            <a:ext cx="10607040" cy="1033271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0">
                <a:solidFill>
                  <a:srgbClr val="1D3035"/>
                </a:solidFill>
                <a:latin typeface="Aptos"/>
              </a:defRPr>
            </a:pPr>
            <a:r>
              <a:t>"The new dashboard saves me time."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3575304"/>
            <a:ext cx="10607040" cy="1033271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0">
                <a:solidFill>
                  <a:srgbClr val="1D3035"/>
                </a:solidFill>
                <a:latin typeface="Aptos"/>
              </a:defRPr>
            </a:pPr>
            <a:r>
              <a:t>"More examples in training would help."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4809744"/>
            <a:ext cx="10607040" cy="1033271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0">
                <a:solidFill>
                  <a:srgbClr val="1D3035"/>
                </a:solidFill>
                <a:latin typeface="Aptos"/>
              </a:defRPr>
            </a:pPr>
            <a:r>
              <a:t>"Pages take a while to load."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