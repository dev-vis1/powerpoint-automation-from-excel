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style val="1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Rating</c:v>
                </c:pt>
              </c:strCache>
            </c:strRef>
          </c:tx>
          <c:dPt>
            <c:idx val="0"/>
            <c:spPr>
              <a:solidFill>
                <a:srgbClr val="107370"/>
              </a:solidFill>
              <a:ln>
                <a:noFill/>
              </a:ln>
            </c:spPr>
          </c:dPt>
          <c:dPt>
            <c:idx val="1"/>
            <c:spPr>
              <a:solidFill>
                <a:srgbClr val="D6DCDF"/>
              </a:solidFill>
              <a:ln>
                <a:noFill/>
              </a:ln>
            </c:spPr>
          </c:dPt>
          <c:dPt>
            <c:idx val="2"/>
            <c:spPr>
              <a:solidFill>
                <a:srgbClr val="F5F8F7"/>
              </a:solidFill>
              <a:ln>
                <a:noFill/>
              </a:ln>
            </c:spPr>
          </c:dPt>
          <c:cat>
            <c:strRef>
              <c:f>Sheet1!$A$2:$A$4</c:f>
              <c:strCache>
                <c:ptCount val="3"/>
                <c:pt idx="0">
                  <c:v>Average rating</c:v>
                </c:pt>
                <c:pt idx="1">
                  <c:v>Remaining</c:v>
                </c:pt>
                <c:pt idx="2">
                  <c:v>Hidden half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8.0935960591133</c:v>
                </c:pt>
                <c:pt idx="1">
                  <c:v>1.9064039408866993</c:v>
                </c:pt>
                <c:pt idx="2">
                  <c:v>10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Responses</c:v>
                </c:pt>
              </c:strCache>
            </c:strRef>
          </c:tx>
          <c:spPr>
            <a:solidFill>
              <a:srgbClr val="DF6F53"/>
            </a:solidFill>
          </c:spPr>
          <c:cat>
            <c:strRef>
              <c:f>Sheet1!$A$2:$A$4</c:f>
              <c:strCache>
                <c:ptCount val="3"/>
                <c:pt idx="0">
                  <c:v>BEV (n=92)</c:v>
                </c:pt>
                <c:pt idx="1">
                  <c:v>Combustion engine + hybrid (n=78)</c:v>
                </c:pt>
                <c:pt idx="2">
                  <c:v>PHEV (n=33)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8.380434782608695</c:v>
                </c:pt>
                <c:pt idx="1">
                  <c:v>7.948717948717949</c:v>
                </c:pt>
                <c:pt idx="2">
                  <c:v>7.636363636363637</c:v>
                </c:pt>
              </c:numCache>
            </c:numRef>
          </c:val>
        </c:ser>
        <c:dLbls>
          <c:numFmt formatCode="0.0" sourceLinked="0"/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.5"/>
          <c:min val="0.0"/>
        </c:scaling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1073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4572000" cy="27432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100" b="1">
                <a:solidFill>
                  <a:srgbClr val="107370"/>
                </a:solidFill>
                <a:latin typeface="Aptos"/>
              </a:defRPr>
            </a:pPr>
            <a:r>
              <a:t>SURVEY BRIEF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95528"/>
            <a:ext cx="11064240" cy="804672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2800" b="1">
                <a:solidFill>
                  <a:srgbClr val="1D3035"/>
                </a:solidFill>
                <a:latin typeface="Aptos"/>
              </a:defRPr>
            </a:pPr>
            <a:r>
              <a:t>Exterior design concept earns strong ratings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199632"/>
            <a:ext cx="10058400" cy="50292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800" b="0">
                <a:solidFill>
                  <a:srgbClr val="5F7072"/>
                </a:solidFill>
                <a:latin typeface="Aptos"/>
              </a:defRPr>
            </a:pPr>
            <a:r>
              <a:t>Source: data-set.csv</a:t>
            </a:r>
            <a:br/>
            <a:r>
              <a:t>Question answered: How would you evaluate the exterior design concept of this vehicle?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731520" cy="22860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000" b="0">
                <a:solidFill>
                  <a:srgbClr val="5F7072"/>
                </a:solidFill>
                <a:latin typeface="Aptos"/>
              </a:defRPr>
            </a:pPr>
            <a:r>
              <a:t>1 / 2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627632"/>
            <a:ext cx="10927080" cy="438912"/>
          </a:xfrm>
          <a:prstGeom prst="rect">
            <a:avLst/>
          </a:prstGeom>
          <a:solidFill>
            <a:srgbClr val="EA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" y="1627632"/>
            <a:ext cx="54864" cy="438912"/>
          </a:xfrm>
          <a:prstGeom prst="rect">
            <a:avLst/>
          </a:prstGeom>
          <a:solidFill>
            <a:srgbClr val="1073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1682496"/>
            <a:ext cx="1051560" cy="164592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900" b="1">
                <a:solidFill>
                  <a:srgbClr val="107370"/>
                </a:solidFill>
                <a:latin typeface="Aptos"/>
              </a:defRPr>
            </a:pPr>
            <a:r>
              <a:t>TAKEAWAY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1664208"/>
            <a:ext cx="9464040" cy="310896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200" b="1">
                <a:solidFill>
                  <a:srgbClr val="1D3035"/>
                </a:solidFill>
                <a:latin typeface="Aptos"/>
              </a:defRPr>
            </a:pPr>
            <a:r>
              <a:t>The design resonates with a majority: 51% rate it 9-10, rising to 63% among current BEV owners.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685800" y="2048256"/>
          <a:ext cx="3063240" cy="3063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1512874" y="3242919"/>
            <a:ext cx="1409090" cy="384048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2500" b="1">
                <a:solidFill>
                  <a:srgbClr val="1D3035"/>
                </a:solidFill>
                <a:latin typeface="Aptos"/>
              </a:defRPr>
            </a:pPr>
            <a:r>
              <a:t>8.1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5918" y="3794302"/>
            <a:ext cx="2083003" cy="219456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000" b="1">
                <a:solidFill>
                  <a:srgbClr val="1D3035"/>
                </a:solidFill>
                <a:latin typeface="Aptos"/>
              </a:defRPr>
            </a:pPr>
            <a:r>
              <a:t>Average rating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9594" y="4192524"/>
            <a:ext cx="2695651" cy="201168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800" b="0">
                <a:solidFill>
                  <a:srgbClr val="5F7072"/>
                </a:solidFill>
                <a:latin typeface="Aptos"/>
              </a:defRPr>
            </a:pPr>
            <a:r>
              <a:t>Score on 10-point scale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096512" y="2212848"/>
            <a:ext cx="2240280" cy="877824"/>
          </a:xfrm>
          <a:prstGeom prst="rect">
            <a:avLst/>
          </a:prstGeom>
          <a:solidFill>
            <a:srgbClr val="FFFFFF"/>
          </a:solidFill>
          <a:ln>
            <a:solidFill>
              <a:srgbClr val="D7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42816" y="2304288"/>
            <a:ext cx="1965960" cy="36576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2500" b="1">
                <a:solidFill>
                  <a:srgbClr val="107370"/>
                </a:solidFill>
                <a:latin typeface="Aptos"/>
              </a:defRPr>
            </a:pPr>
            <a:r>
              <a:t>203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42816" y="2724912"/>
            <a:ext cx="1965960" cy="22860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000" b="0">
                <a:solidFill>
                  <a:srgbClr val="5F7072"/>
                </a:solidFill>
                <a:latin typeface="Aptos"/>
              </a:defRPr>
            </a:pPr>
            <a:r>
              <a:t>Respondent base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19672" y="2212848"/>
            <a:ext cx="2240280" cy="877824"/>
          </a:xfrm>
          <a:prstGeom prst="rect">
            <a:avLst/>
          </a:prstGeom>
          <a:solidFill>
            <a:srgbClr val="FFFFFF"/>
          </a:solidFill>
          <a:ln>
            <a:solidFill>
              <a:srgbClr val="D7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65976" y="2304288"/>
            <a:ext cx="1965960" cy="36576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2500" b="1">
                <a:solidFill>
                  <a:srgbClr val="107370"/>
                </a:solidFill>
                <a:latin typeface="Aptos"/>
              </a:defRPr>
            </a:pPr>
            <a:r>
              <a:t>51%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65976" y="2724912"/>
            <a:ext cx="1965960" cy="22860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000" b="0">
                <a:solidFill>
                  <a:srgbClr val="5F7072"/>
                </a:solidFill>
                <a:latin typeface="Aptos"/>
              </a:defRPr>
            </a:pPr>
            <a:r>
              <a:t>Top-box · 9-10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42832" y="2212848"/>
            <a:ext cx="2423160" cy="877824"/>
          </a:xfrm>
          <a:prstGeom prst="rect">
            <a:avLst/>
          </a:prstGeom>
          <a:solidFill>
            <a:srgbClr val="FFFFFF"/>
          </a:solidFill>
          <a:ln>
            <a:solidFill>
              <a:srgbClr val="D7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89136" y="2304288"/>
            <a:ext cx="2148840" cy="36576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2500" b="1">
                <a:solidFill>
                  <a:srgbClr val="107370"/>
                </a:solidFill>
                <a:latin typeface="Aptos"/>
              </a:defRPr>
            </a:pPr>
            <a:r>
              <a:t>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89136" y="2724912"/>
            <a:ext cx="2148840" cy="22860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000" b="0">
                <a:solidFill>
                  <a:srgbClr val="5F7072"/>
                </a:solidFill>
                <a:latin typeface="Aptos"/>
              </a:defRPr>
            </a:pPr>
            <a:r>
              <a:t>Bottom-box · 1-4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33087" y="3401568"/>
            <a:ext cx="6858000" cy="219456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000" b="1">
                <a:solidFill>
                  <a:srgbClr val="107370"/>
                </a:solidFill>
                <a:latin typeface="Aptos"/>
              </a:defRPr>
            </a:pPr>
            <a:r>
              <a:t>BY CURRENT DRIVE TYPE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4041648" y="3675887"/>
          <a:ext cx="747979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1768"/>
                <a:gridCol w="823463"/>
                <a:gridCol w="1029329"/>
                <a:gridCol w="1543993"/>
                <a:gridCol w="1681237"/>
              </a:tblGrid>
              <a:tr h="27432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Subgroup</a:t>
                      </a:r>
                    </a:p>
                  </a:txBody>
                  <a:tcPr>
                    <a:solidFill>
                      <a:srgbClr val="1073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Base (n)</a:t>
                      </a:r>
                    </a:p>
                  </a:txBody>
                  <a:tcPr>
                    <a:solidFill>
                      <a:srgbClr val="1073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Mean / 10</a:t>
                      </a:r>
                    </a:p>
                  </a:txBody>
                  <a:tcPr>
                    <a:solidFill>
                      <a:srgbClr val="1073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Top-box 9-10</a:t>
                      </a:r>
                    </a:p>
                  </a:txBody>
                  <a:tcPr>
                    <a:solidFill>
                      <a:srgbClr val="1073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Bottom-box 1-4</a:t>
                      </a:r>
                    </a:p>
                  </a:txBody>
                  <a:tcPr>
                    <a:solidFill>
                      <a:srgbClr val="10737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D3035"/>
                          </a:solidFill>
                          <a:latin typeface="Aptos"/>
                        </a:defRPr>
                      </a:pPr>
                      <a:r>
                        <a:t>BEV</a:t>
                      </a:r>
                    </a:p>
                  </a:txBody>
                  <a:tcPr>
                    <a:solidFill>
                      <a:srgbClr val="F5F8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D3035"/>
                          </a:solidFill>
                          <a:latin typeface="Aptos"/>
                        </a:defRPr>
                      </a:pPr>
                      <a:r>
                        <a:t>92</a:t>
                      </a:r>
                    </a:p>
                  </a:txBody>
                  <a:tcPr>
                    <a:solidFill>
                      <a:srgbClr val="F5F8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D3035"/>
                          </a:solidFill>
                          <a:latin typeface="Aptos"/>
                        </a:defRPr>
                      </a:pPr>
                      <a:r>
                        <a:t>8.4</a:t>
                      </a:r>
                    </a:p>
                  </a:txBody>
                  <a:tcPr>
                    <a:solidFill>
                      <a:srgbClr val="F5F8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D3035"/>
                          </a:solidFill>
                          <a:latin typeface="Aptos"/>
                        </a:defRPr>
                      </a:pPr>
                      <a:r>
                        <a:t>63% (58)</a:t>
                      </a:r>
                    </a:p>
                  </a:txBody>
                  <a:tcPr>
                    <a:solidFill>
                      <a:srgbClr val="F5F8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D3035"/>
                          </a:solidFill>
                          <a:latin typeface="Aptos"/>
                        </a:defRPr>
                      </a:pPr>
                      <a:r>
                        <a:t>5% (5)</a:t>
                      </a:r>
                    </a:p>
                  </a:txBody>
                  <a:tcPr>
                    <a:solidFill>
                      <a:srgbClr val="F5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D3035"/>
                          </a:solidFill>
                          <a:latin typeface="Aptos"/>
                        </a:defRPr>
                      </a:pPr>
                      <a:r>
                        <a:t>Combustion engine + hybrid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D3035"/>
                          </a:solidFill>
                          <a:latin typeface="Aptos"/>
                        </a:defRPr>
                      </a:pPr>
                      <a:r>
                        <a:t>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D3035"/>
                          </a:solidFill>
                          <a:latin typeface="Aptos"/>
                        </a:defRPr>
                      </a:pPr>
                      <a:r>
                        <a:t>7.9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D3035"/>
                          </a:solidFill>
                          <a:latin typeface="Aptos"/>
                        </a:defRPr>
                      </a:pPr>
                      <a:r>
                        <a:t>45% (35)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D3035"/>
                          </a:solidFill>
                          <a:latin typeface="Aptos"/>
                        </a:defRPr>
                      </a:pPr>
                      <a:r>
                        <a:t>4% (3)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D3035"/>
                          </a:solidFill>
                          <a:latin typeface="Aptos"/>
                        </a:defRPr>
                      </a:pPr>
                      <a:r>
                        <a:t>PHEV</a:t>
                      </a:r>
                    </a:p>
                  </a:txBody>
                  <a:tcPr>
                    <a:solidFill>
                      <a:srgbClr val="F5F8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D3035"/>
                          </a:solidFill>
                          <a:latin typeface="Aptos"/>
                        </a:defRPr>
                      </a:pPr>
                      <a:r>
                        <a:t>33</a:t>
                      </a:r>
                    </a:p>
                  </a:txBody>
                  <a:tcPr>
                    <a:solidFill>
                      <a:srgbClr val="F5F8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D3035"/>
                          </a:solidFill>
                          <a:latin typeface="Aptos"/>
                        </a:defRPr>
                      </a:pPr>
                      <a:r>
                        <a:t>7.6</a:t>
                      </a:r>
                    </a:p>
                  </a:txBody>
                  <a:tcPr>
                    <a:solidFill>
                      <a:srgbClr val="F5F8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D3035"/>
                          </a:solidFill>
                          <a:latin typeface="Aptos"/>
                        </a:defRPr>
                      </a:pPr>
                      <a:r>
                        <a:t>33% (11)</a:t>
                      </a:r>
                    </a:p>
                  </a:txBody>
                  <a:tcPr>
                    <a:solidFill>
                      <a:srgbClr val="F5F8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D3035"/>
                          </a:solidFill>
                          <a:latin typeface="Aptos"/>
                        </a:defRPr>
                      </a:pPr>
                      <a:r>
                        <a:t>6% (2)</a:t>
                      </a:r>
                    </a:p>
                  </a:txBody>
                  <a:tcPr>
                    <a:solidFill>
                      <a:srgbClr val="F5F8F7"/>
                    </a:solidFill>
                  </a:tcPr>
                </a:tc>
              </a:tr>
            </a:tbl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658368" y="5733288"/>
            <a:ext cx="10789920" cy="310896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900" b="0">
                <a:solidFill>
                  <a:srgbClr val="5F7072"/>
                </a:solidFill>
                <a:latin typeface="Aptos"/>
              </a:defRPr>
            </a:pPr>
            <a:r>
              <a:t>Not captured in this file: demographics, purchase intent/rejection, pricing expectations, emerging-brand acceptance.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1073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4572000" cy="27432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100" b="1">
                <a:solidFill>
                  <a:srgbClr val="107370"/>
                </a:solidFill>
                <a:latin typeface="Aptos"/>
              </a:defRPr>
            </a:pPr>
            <a:r>
              <a:t>SURVEY BRIEF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95528"/>
            <a:ext cx="11064240" cy="804672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2800" b="1">
                <a:solidFill>
                  <a:srgbClr val="1D3035"/>
                </a:solidFill>
                <a:latin typeface="Aptos"/>
              </a:defRPr>
            </a:pPr>
            <a:r>
              <a:t>Exterior design concept rating by current drive type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199632"/>
            <a:ext cx="10058400" cy="50292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800" b="0">
                <a:solidFill>
                  <a:srgbClr val="5F7072"/>
                </a:solidFill>
                <a:latin typeface="Aptos"/>
              </a:defRPr>
            </a:pPr>
            <a:r>
              <a:t>Source: data-set.csv</a:t>
            </a:r>
            <a:br/>
            <a:r>
              <a:t>Question answered: How does the exterior design concept score differ by current drive type?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731520" cy="22860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000" b="0">
                <a:solidFill>
                  <a:srgbClr val="5F7072"/>
                </a:solidFill>
                <a:latin typeface="Aptos"/>
              </a:defRPr>
            </a:pPr>
            <a:r>
              <a:t>2 / 2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627632"/>
            <a:ext cx="10927080" cy="438912"/>
          </a:xfrm>
          <a:prstGeom prst="rect">
            <a:avLst/>
          </a:prstGeom>
          <a:solidFill>
            <a:srgbClr val="EA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" y="1627632"/>
            <a:ext cx="54864" cy="438912"/>
          </a:xfrm>
          <a:prstGeom prst="rect">
            <a:avLst/>
          </a:prstGeom>
          <a:solidFill>
            <a:srgbClr val="1073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1682496"/>
            <a:ext cx="1051560" cy="164592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900" b="1">
                <a:solidFill>
                  <a:srgbClr val="107370"/>
                </a:solidFill>
                <a:latin typeface="Aptos"/>
              </a:defRPr>
            </a:pPr>
            <a:r>
              <a:t>TAKEAWAY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1664208"/>
            <a:ext cx="9464040" cy="310896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200" b="1">
                <a:solidFill>
                  <a:srgbClr val="1D3035"/>
                </a:solidFill>
                <a:latin typeface="Aptos"/>
              </a:defRPr>
            </a:pPr>
            <a:r>
              <a:t>BEV scores highest (8.4/10, n=92); PHEV is lowest (7.6/10, n=33).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194560"/>
            <a:ext cx="10789920" cy="22860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defRPr sz="1100" b="1">
                <a:solidFill>
                  <a:srgbClr val="5F7072"/>
                </a:solidFill>
                <a:latin typeface="Aptos"/>
              </a:defRPr>
            </a:pPr>
            <a:r>
              <a:t>Exterior design concept · mean rating / 10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640080" y="2487168"/>
          <a:ext cx="10881360" cy="1965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40080" y="4572000"/>
          <a:ext cx="1088136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/>
                <a:gridCol w="1234440"/>
                <a:gridCol w="1554480"/>
                <a:gridCol w="2148840"/>
                <a:gridCol w="2468880"/>
              </a:tblGrid>
              <a:tr h="2743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Subgroup</a:t>
                      </a:r>
                    </a:p>
                  </a:txBody>
                  <a:tcPr>
                    <a:solidFill>
                      <a:srgbClr val="1073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Base (n)</a:t>
                      </a:r>
                    </a:p>
                  </a:txBody>
                  <a:tcPr>
                    <a:solidFill>
                      <a:srgbClr val="1073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Mean / 10</a:t>
                      </a:r>
                    </a:p>
                  </a:txBody>
                  <a:tcPr>
                    <a:solidFill>
                      <a:srgbClr val="1073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Top-box 9-10</a:t>
                      </a:r>
                    </a:p>
                  </a:txBody>
                  <a:tcPr>
                    <a:solidFill>
                      <a:srgbClr val="1073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Bottom-box 1-4</a:t>
                      </a:r>
                    </a:p>
                  </a:txBody>
                  <a:tcPr>
                    <a:solidFill>
                      <a:srgbClr val="10737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D3035"/>
                          </a:solidFill>
                          <a:latin typeface="Aptos"/>
                        </a:defRPr>
                      </a:pPr>
                      <a:r>
                        <a:t>BEV</a:t>
                      </a:r>
                    </a:p>
                  </a:txBody>
                  <a:tcPr>
                    <a:solidFill>
                      <a:srgbClr val="F5F8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D3035"/>
                          </a:solidFill>
                          <a:latin typeface="Aptos"/>
                        </a:defRPr>
                      </a:pPr>
                      <a:r>
                        <a:t>92</a:t>
                      </a:r>
                    </a:p>
                  </a:txBody>
                  <a:tcPr>
                    <a:solidFill>
                      <a:srgbClr val="F5F8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D3035"/>
                          </a:solidFill>
                          <a:latin typeface="Aptos"/>
                        </a:defRPr>
                      </a:pPr>
                      <a:r>
                        <a:t>8.4</a:t>
                      </a:r>
                    </a:p>
                  </a:txBody>
                  <a:tcPr>
                    <a:solidFill>
                      <a:srgbClr val="F5F8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D3035"/>
                          </a:solidFill>
                          <a:latin typeface="Aptos"/>
                        </a:defRPr>
                      </a:pPr>
                      <a:r>
                        <a:t>63% (58)</a:t>
                      </a:r>
                    </a:p>
                  </a:txBody>
                  <a:tcPr>
                    <a:solidFill>
                      <a:srgbClr val="F5F8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D3035"/>
                          </a:solidFill>
                          <a:latin typeface="Aptos"/>
                        </a:defRPr>
                      </a:pPr>
                      <a:r>
                        <a:t>5% (5)</a:t>
                      </a:r>
                    </a:p>
                  </a:txBody>
                  <a:tcPr>
                    <a:solidFill>
                      <a:srgbClr val="F5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D3035"/>
                          </a:solidFill>
                          <a:latin typeface="Aptos"/>
                        </a:defRPr>
                      </a:pPr>
                      <a:r>
                        <a:t>Combustion engine + hybrid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D3035"/>
                          </a:solidFill>
                          <a:latin typeface="Aptos"/>
                        </a:defRPr>
                      </a:pPr>
                      <a:r>
                        <a:t>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D3035"/>
                          </a:solidFill>
                          <a:latin typeface="Aptos"/>
                        </a:defRPr>
                      </a:pPr>
                      <a:r>
                        <a:t>7.9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D3035"/>
                          </a:solidFill>
                          <a:latin typeface="Aptos"/>
                        </a:defRPr>
                      </a:pPr>
                      <a:r>
                        <a:t>45% (35)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D3035"/>
                          </a:solidFill>
                          <a:latin typeface="Aptos"/>
                        </a:defRPr>
                      </a:pPr>
                      <a:r>
                        <a:t>4% (3)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D3035"/>
                          </a:solidFill>
                          <a:latin typeface="Aptos"/>
                        </a:defRPr>
                      </a:pPr>
                      <a:r>
                        <a:t>PHEV</a:t>
                      </a:r>
                    </a:p>
                  </a:txBody>
                  <a:tcPr>
                    <a:solidFill>
                      <a:srgbClr val="F5F8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D3035"/>
                          </a:solidFill>
                          <a:latin typeface="Aptos"/>
                        </a:defRPr>
                      </a:pPr>
                      <a:r>
                        <a:t>33</a:t>
                      </a:r>
                    </a:p>
                  </a:txBody>
                  <a:tcPr>
                    <a:solidFill>
                      <a:srgbClr val="F5F8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D3035"/>
                          </a:solidFill>
                          <a:latin typeface="Aptos"/>
                        </a:defRPr>
                      </a:pPr>
                      <a:r>
                        <a:t>7.6</a:t>
                      </a:r>
                    </a:p>
                  </a:txBody>
                  <a:tcPr>
                    <a:solidFill>
                      <a:srgbClr val="F5F8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D3035"/>
                          </a:solidFill>
                          <a:latin typeface="Aptos"/>
                        </a:defRPr>
                      </a:pPr>
                      <a:r>
                        <a:t>33% (11)</a:t>
                      </a:r>
                    </a:p>
                  </a:txBody>
                  <a:tcPr>
                    <a:solidFill>
                      <a:srgbClr val="F5F8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D3035"/>
                          </a:solidFill>
                          <a:latin typeface="Aptos"/>
                        </a:defRPr>
                      </a:pPr>
                      <a:r>
                        <a:t>6% (2)</a:t>
                      </a:r>
                    </a:p>
                  </a:txBody>
                  <a:tcPr>
                    <a:solidFill>
                      <a:srgbClr val="F5F8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