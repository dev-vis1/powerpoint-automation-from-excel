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07370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6</c:v>
                </c:pt>
                <c:pt idx="4">
                  <c:v>5</c:v>
                </c:pt>
                <c:pt idx="5">
                  <c:v>19</c:v>
                </c:pt>
                <c:pt idx="6">
                  <c:v>27</c:v>
                </c:pt>
                <c:pt idx="7">
                  <c:v>38</c:v>
                </c:pt>
                <c:pt idx="8">
                  <c:v>62</c:v>
                </c:pt>
                <c:pt idx="9">
                  <c:v>42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4.39999999999999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DF6F53"/>
            </a:solidFill>
          </c:spPr>
          <c:cat>
            <c:strRef>
              <c:f>Sheet1!$A$2:$A$4</c:f>
              <c:strCache>
                <c:ptCount val="3"/>
                <c:pt idx="0">
                  <c:v>BEV (n=92)</c:v>
                </c:pt>
                <c:pt idx="1">
                  <c:v>Combustion engine + hybrid (n=78)</c:v>
                </c:pt>
                <c:pt idx="2">
                  <c:v>PHEV (n=33)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8.380434782608695</c:v>
                </c:pt>
                <c:pt idx="1">
                  <c:v>7.948717948717949</c:v>
                </c:pt>
                <c:pt idx="2">
                  <c:v>7.636363636363637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How would you evaluate the exterior design concept of this vehicle?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601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34290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664208"/>
            <a:ext cx="31546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203 / 203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084831"/>
            <a:ext cx="315468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Respondents with a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572768"/>
            <a:ext cx="34290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664208"/>
            <a:ext cx="31546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8.1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084831"/>
            <a:ext cx="315468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Average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1572768"/>
            <a:ext cx="34290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664208"/>
            <a:ext cx="31546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084831"/>
            <a:ext cx="315468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Top-box · 9-10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569464"/>
            <a:ext cx="685800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DF6F53"/>
                </a:solidFill>
                <a:latin typeface="Aptos"/>
              </a:defRPr>
            </a:pPr>
            <a:r>
              <a:t>Bottom-box (1-4): 5%  ·  10 respondents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26080"/>
            <a:ext cx="106984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0">
                <a:solidFill>
                  <a:srgbClr val="5F7072"/>
                </a:solidFill>
                <a:latin typeface="Aptos"/>
              </a:defRPr>
            </a:pPr>
            <a:r>
              <a:t>Case frequency: 203 total respondents  |  0 missing rating answers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3218688"/>
          <a:ext cx="10881360" cy="1664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4956048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34440"/>
                <a:gridCol w="1554480"/>
                <a:gridCol w="2148840"/>
                <a:gridCol w="24688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58368" y="6099048"/>
            <a:ext cx="1078992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F7072"/>
                </a:solidFill>
                <a:latin typeface="Aptos"/>
              </a:defRPr>
            </a:pPr>
            <a:r>
              <a:t>Not captured in this file: demographics, purchase intent/rejection, pricing expectations, emerging-brand acceptance.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How would you evaluate the exterior design concept of this vehicle? by Engine type of new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960120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Source: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2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107899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0">
                <a:solidFill>
                  <a:srgbClr val="5F7072"/>
                </a:solidFill>
                <a:latin typeface="Aptos"/>
              </a:defRPr>
            </a:pPr>
            <a:r>
              <a:t>Editable subgroup means; exact base and top/bottom shares are listed below.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65960"/>
          <a:ext cx="108813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462272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34440"/>
                <a:gridCol w="1554480"/>
                <a:gridCol w="2148840"/>
                <a:gridCol w="24688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