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4997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noFill/>
            <a:ln w="25400">
              <a:noFill/>
            </a:ln>
          </c:spPr>
          <c:dPt>
            <c:idx val="0"/>
            <c:bubble3D val="0"/>
            <c:spPr>
              <a:solidFill>
                <a:schemeClr val="tx2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6FD-499B-A961-40BB5DB01B77}"/>
              </c:ext>
            </c:extLst>
          </c:dPt>
          <c:dPt>
            <c:idx val="1"/>
            <c:bubble3D val="0"/>
            <c:spPr>
              <a:solidFill>
                <a:schemeClr val="bg1">
                  <a:lumMod val="90000"/>
                </a:schemeClr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6FD-499B-A961-40BB5DB01B77}"/>
              </c:ext>
            </c:extLst>
          </c:dPt>
          <c:cat>
            <c:strRef>
              <c:f>Tabelle1!$A$2:$A$5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X</c:v>
                </c:pt>
                <c:pt idx="3">
                  <c:v>Y</c:v>
                </c:pt>
              </c:strCache>
            </c:strRef>
          </c:cat>
          <c:val>
            <c:numRef>
              <c:f>Tabelle1!$B$2:$B$5</c:f>
              <c:numCache>
                <c:formatCode>_(* #,##0.00_);_(* \(#,##0.00\);_(* "-"??_);_(@_)</c:formatCode>
                <c:ptCount val="4"/>
                <c:pt idx="0">
                  <c:v>8.1</c:v>
                </c:pt>
                <c:pt idx="1">
                  <c:v>1.9000000000000004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6FD-499B-A961-40BB5DB01B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14E37D57-3690-4924-81EB-46C7D654BFAF}"/>
              </a:ext>
            </a:extLst>
          </p:cNvPr>
          <p:cNvSpPr txBox="1">
            <a:spLocks/>
          </p:cNvSpPr>
          <p:nvPr userDrawn="1"/>
        </p:nvSpPr>
        <p:spPr>
          <a:xfrm>
            <a:off x="342712" y="6497449"/>
            <a:ext cx="2821567" cy="2227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5E0750D-F39B-4AEE-B002-F2770E1E19C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elplatzhalter 1">
            <a:extLst>
              <a:ext uri="{FF2B5EF4-FFF2-40B4-BE49-F238E27FC236}">
                <a16:creationId xmlns:a16="http://schemas.microsoft.com/office/drawing/2014/main" id="{8D0532B6-A9E0-4628-81BC-9BBD5675D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11" y="386392"/>
            <a:ext cx="11508651" cy="57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3971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1120FA-9722-4A52-AFF5-5F086461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00" y="378000"/>
            <a:ext cx="11520000" cy="59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25069A-AEB1-4481-9233-6265FE9E0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5596" y="1279047"/>
            <a:ext cx="11520000" cy="47423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de-DE" dirty="0"/>
              <a:t>Mastertextformat bearbeiten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e-DE" dirty="0"/>
              <a:t>Zweite Ebene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de-DE" dirty="0"/>
              <a:t>Dritte Ebene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de-DE" dirty="0"/>
              <a:t>Vierte Ebene</a:t>
            </a:r>
          </a:p>
          <a:p>
            <a:pPr lvl="4">
              <a:buFont typeface="Wingdings" panose="05000000000000000000" pitchFamily="2" charset="2"/>
              <a:buChar char="§"/>
            </a:pPr>
            <a:r>
              <a:rPr lang="de-DE" dirty="0"/>
              <a:t>Fünfte Ebene</a:t>
            </a:r>
            <a:endParaRPr lang="en-GB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00DCEF1-359D-4975-9165-571BF1CAB4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757" y="6159713"/>
            <a:ext cx="1650368" cy="57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783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Tw Cen MT" panose="020B0602020104020603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200" kern="1200" dirty="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1">
          <p15:clr>
            <a:srgbClr val="F26B43"/>
          </p15:clr>
        </p15:guide>
        <p15:guide id="3" pos="3840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3861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orient="horz" pos="618">
          <p15:clr>
            <a:srgbClr val="F26B43"/>
          </p15:clr>
        </p15:guide>
        <p15:guide id="9" orient="horz" pos="799">
          <p15:clr>
            <a:srgbClr val="F26B43"/>
          </p15:clr>
        </p15:guide>
        <p15:guide id="10" orient="horz" pos="379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tags" Target="../tags/tag3.xml"/><Relationship Id="rId7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0D363-6AB8-8CAE-3714-E13FEF57C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el 28">
            <a:extLst>
              <a:ext uri="{FF2B5EF4-FFF2-40B4-BE49-F238E27FC236}">
                <a16:creationId xmlns:a16="http://schemas.microsoft.com/office/drawing/2014/main" id="{F43D3401-560A-468E-CC72-22B8D3FC3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711" y="386392"/>
            <a:ext cx="11508651" cy="576000"/>
          </a:xfrm>
        </p:spPr>
        <p:txBody>
          <a:bodyPr>
            <a:noAutofit/>
          </a:bodyPr>
          <a:lstStyle/>
          <a:p>
            <a:r>
              <a:rPr lang="en-GB" noProof="0" dirty="0"/>
              <a:t>Exterior design evaluation – Mercedes GLS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0A698DF-00FD-3FE2-2FED-7A0104F10A6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34963" y="3170479"/>
            <a:ext cx="3240000" cy="256912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180000" bIns="36000"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KEY TAKE-AWAYS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Design generates excitement for majority of customers, especially those who currently own a BEV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German customers are familiar with the design language of Mercedes even without brand reveal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E672B4CE-6711-5585-E36A-F85EAF6E19FD}"/>
              </a:ext>
            </a:extLst>
          </p:cNvPr>
          <p:cNvCxnSpPr>
            <a:cxnSpLocks/>
          </p:cNvCxnSpPr>
          <p:nvPr/>
        </p:nvCxnSpPr>
        <p:spPr>
          <a:xfrm>
            <a:off x="4142985" y="1772791"/>
            <a:ext cx="0" cy="3960000"/>
          </a:xfrm>
          <a:prstGeom prst="line">
            <a:avLst/>
          </a:prstGeom>
          <a:ln w="12700" cap="flat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65A6648E-79DF-2FDC-8EB4-AF4CFADBE422}"/>
              </a:ext>
            </a:extLst>
          </p:cNvPr>
          <p:cNvSpPr txBox="1">
            <a:spLocks/>
          </p:cNvSpPr>
          <p:nvPr/>
        </p:nvSpPr>
        <p:spPr>
          <a:xfrm>
            <a:off x="342899" y="1031568"/>
            <a:ext cx="11705665" cy="5715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2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D657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0BED4F6-F02B-26A3-685E-FFDBCFE275F9}"/>
              </a:ext>
            </a:extLst>
          </p:cNvPr>
          <p:cNvSpPr txBox="1"/>
          <p:nvPr/>
        </p:nvSpPr>
        <p:spPr>
          <a:xfrm>
            <a:off x="4142984" y="1772791"/>
            <a:ext cx="1909763" cy="4616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TOTAL Sample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(n=203)</a:t>
            </a:r>
          </a:p>
        </p:txBody>
      </p:sp>
      <p:pic>
        <p:nvPicPr>
          <p:cNvPr id="15" name="Grafik 14" descr="Ein Bild, das Rad, Auto, Reifen, Fahrzeug enthält.&#10;&#10;KI-generierte Inhalte können fehlerhaft sein.">
            <a:extLst>
              <a:ext uri="{FF2B5EF4-FFF2-40B4-BE49-F238E27FC236}">
                <a16:creationId xmlns:a16="http://schemas.microsoft.com/office/drawing/2014/main" id="{D9CDF41B-2989-BF4A-71CD-F9C207824A1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1" y="1771388"/>
            <a:ext cx="3239995" cy="853198"/>
          </a:xfrm>
          <a:prstGeom prst="rect">
            <a:avLst/>
          </a:prstGeom>
        </p:spPr>
      </p:pic>
      <p:graphicFrame>
        <p:nvGraphicFramePr>
          <p:cNvPr id="19" name="GRAPH01">
            <a:extLst>
              <a:ext uri="{FF2B5EF4-FFF2-40B4-BE49-F238E27FC236}">
                <a16:creationId xmlns:a16="http://schemas.microsoft.com/office/drawing/2014/main" id="{D12AE4AF-F743-5371-3906-5D659B7ADF40}"/>
              </a:ext>
            </a:extLst>
          </p:cNvPr>
          <p:cNvGraphicFramePr/>
          <p:nvPr/>
        </p:nvGraphicFramePr>
        <p:xfrm>
          <a:off x="3975505" y="2720627"/>
          <a:ext cx="2160000" cy="14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0" name="TABLE01">
            <a:extLst>
              <a:ext uri="{FF2B5EF4-FFF2-40B4-BE49-F238E27FC236}">
                <a16:creationId xmlns:a16="http://schemas.microsoft.com/office/drawing/2014/main" id="{14BD6AB6-8E01-753D-9F7A-14C29B246C67}"/>
              </a:ext>
            </a:extLst>
          </p:cNvPr>
          <p:cNvGraphicFramePr>
            <a:graphicFrameLocks noGrp="1"/>
          </p:cNvGraphicFramePr>
          <p:nvPr/>
        </p:nvGraphicFramePr>
        <p:xfrm>
          <a:off x="4214730" y="3132032"/>
          <a:ext cx="1712259" cy="39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2259">
                  <a:extLst>
                    <a:ext uri="{9D8B030D-6E8A-4147-A177-3AD203B41FA5}">
                      <a16:colId xmlns:a16="http://schemas.microsoft.com/office/drawing/2014/main" val="369734021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ctr"/>
                      <a:r>
                        <a:rPr lang="en-GB" sz="2000" b="1" spc="300" noProof="0" dirty="0">
                          <a:solidFill>
                            <a:schemeClr val="tx2"/>
                          </a:solidFill>
                        </a:rPr>
                        <a:t>8.1</a:t>
                      </a:r>
                      <a:endParaRPr lang="en-GB" sz="20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069291"/>
                  </a:ext>
                </a:extLst>
              </a:tr>
            </a:tbl>
          </a:graphicData>
        </a:graphic>
      </p:graphicFrame>
      <p:sp>
        <p:nvSpPr>
          <p:cNvPr id="21" name="Textfeld 20">
            <a:extLst>
              <a:ext uri="{FF2B5EF4-FFF2-40B4-BE49-F238E27FC236}">
                <a16:creationId xmlns:a16="http://schemas.microsoft.com/office/drawing/2014/main" id="{6D2421C9-342D-7F6D-D06A-85E8C179F7F4}"/>
              </a:ext>
            </a:extLst>
          </p:cNvPr>
          <p:cNvSpPr txBox="1"/>
          <p:nvPr/>
        </p:nvSpPr>
        <p:spPr>
          <a:xfrm>
            <a:off x="4286985" y="3442538"/>
            <a:ext cx="1512000" cy="4154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13B67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Average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13B67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Score on 10-point scale</a:t>
            </a:r>
          </a:p>
        </p:txBody>
      </p:sp>
      <p:graphicFrame>
        <p:nvGraphicFramePr>
          <p:cNvPr id="22" name="Tabelle 21">
            <a:extLst>
              <a:ext uri="{FF2B5EF4-FFF2-40B4-BE49-F238E27FC236}">
                <a16:creationId xmlns:a16="http://schemas.microsoft.com/office/drawing/2014/main" id="{449BC8CF-A010-79EB-74C6-66A42A80A3A3}"/>
              </a:ext>
            </a:extLst>
          </p:cNvPr>
          <p:cNvGraphicFramePr>
            <a:graphicFrameLocks noGrp="1"/>
          </p:cNvGraphicFramePr>
          <p:nvPr/>
        </p:nvGraphicFramePr>
        <p:xfrm>
          <a:off x="4286985" y="4438052"/>
          <a:ext cx="1512000" cy="129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3625">
                  <a:extLst>
                    <a:ext uri="{9D8B030D-6E8A-4147-A177-3AD203B41FA5}">
                      <a16:colId xmlns:a16="http://schemas.microsoft.com/office/drawing/2014/main" val="221010434"/>
                    </a:ext>
                  </a:extLst>
                </a:gridCol>
                <a:gridCol w="338375">
                  <a:extLst>
                    <a:ext uri="{9D8B030D-6E8A-4147-A177-3AD203B41FA5}">
                      <a16:colId xmlns:a16="http://schemas.microsoft.com/office/drawing/2014/main" val="287755564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9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Ratings in detail</a:t>
                      </a:r>
                    </a:p>
                  </a:txBody>
                  <a:tcPr marL="36000" marR="36000" marT="36000" marB="0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GB" sz="900" b="1" i="0" u="none" strike="noStrike" noProof="0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90493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900" b="1" u="none" strike="noStrike" noProof="0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Rejection</a:t>
                      </a:r>
                      <a:br>
                        <a:rPr lang="en-GB" sz="900" b="1" u="none" strike="noStrike" noProof="0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</a:br>
                      <a:r>
                        <a:rPr lang="en-GB" sz="900" u="none" strike="noStrike" noProof="0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(rating 1-4)</a:t>
                      </a:r>
                      <a:endParaRPr lang="en-GB" sz="900" b="0" i="0" u="none" strike="noStrike" noProof="0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0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900" b="1" u="none" strike="noStrike" noProof="0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5%</a:t>
                      </a:r>
                      <a:endParaRPr lang="en-GB" sz="900" b="1" i="0" u="none" strike="noStrike" noProof="0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1886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900" b="1" u="none" strike="noStrike" noProof="0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Excitement</a:t>
                      </a:r>
                      <a:br>
                        <a:rPr lang="en-GB" sz="900" b="1" u="none" strike="noStrike" noProof="0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</a:br>
                      <a:r>
                        <a:rPr lang="en-GB" sz="900" u="none" strike="noStrike" noProof="0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(rating 9-10)</a:t>
                      </a:r>
                      <a:endParaRPr lang="en-GB" sz="900" b="0" i="0" u="none" strike="noStrike" noProof="0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0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900" b="1" u="none" strike="noStrike" noProof="0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51%</a:t>
                      </a:r>
                      <a:endParaRPr lang="en-GB" sz="900" b="1" i="0" u="none" strike="noStrike" noProof="0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17684"/>
                  </a:ext>
                </a:extLst>
              </a:tr>
            </a:tbl>
          </a:graphicData>
        </a:graphic>
      </p:graphicFrame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B9469508-0B4D-5AFF-6489-6E56F78370D0}"/>
              </a:ext>
            </a:extLst>
          </p:cNvPr>
          <p:cNvCxnSpPr>
            <a:cxnSpLocks/>
          </p:cNvCxnSpPr>
          <p:nvPr/>
        </p:nvCxnSpPr>
        <p:spPr>
          <a:xfrm rot="5400000">
            <a:off x="5097865" y="3338044"/>
            <a:ext cx="0" cy="1620000"/>
          </a:xfrm>
          <a:prstGeom prst="line">
            <a:avLst/>
          </a:prstGeom>
          <a:ln w="12700" cap="flat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22A05C2F-A61C-DBF2-5A92-E96EFCAE47E6}"/>
              </a:ext>
            </a:extLst>
          </p:cNvPr>
          <p:cNvCxnSpPr>
            <a:cxnSpLocks/>
            <a:endCxn id="14" idx="3"/>
          </p:cNvCxnSpPr>
          <p:nvPr/>
        </p:nvCxnSpPr>
        <p:spPr>
          <a:xfrm>
            <a:off x="6122365" y="1771388"/>
            <a:ext cx="3113236" cy="734496"/>
          </a:xfrm>
          <a:prstGeom prst="line">
            <a:avLst/>
          </a:prstGeom>
          <a:ln w="12700" cap="flat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02">
            <a:extLst>
              <a:ext uri="{FF2B5EF4-FFF2-40B4-BE49-F238E27FC236}">
                <a16:creationId xmlns:a16="http://schemas.microsoft.com/office/drawing/2014/main" id="{5D6E9258-58AB-F564-DDBB-D862FB938A37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176215" y="2228144"/>
          <a:ext cx="3059386" cy="5554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02770">
                  <a:extLst>
                    <a:ext uri="{9D8B030D-6E8A-4147-A177-3AD203B41FA5}">
                      <a16:colId xmlns:a16="http://schemas.microsoft.com/office/drawing/2014/main" val="661467530"/>
                    </a:ext>
                  </a:extLst>
                </a:gridCol>
                <a:gridCol w="902770">
                  <a:extLst>
                    <a:ext uri="{9D8B030D-6E8A-4147-A177-3AD203B41FA5}">
                      <a16:colId xmlns:a16="http://schemas.microsoft.com/office/drawing/2014/main" val="679681849"/>
                    </a:ext>
                  </a:extLst>
                </a:gridCol>
                <a:gridCol w="1253846">
                  <a:extLst>
                    <a:ext uri="{9D8B030D-6E8A-4147-A177-3AD203B41FA5}">
                      <a16:colId xmlns:a16="http://schemas.microsoft.com/office/drawing/2014/main" val="16214598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900" b="0" spc="0" noProof="0" dirty="0">
                          <a:solidFill>
                            <a:schemeClr val="tx1"/>
                          </a:solidFill>
                          <a:latin typeface="+mn-lt"/>
                        </a:rPr>
                        <a:t>PHEV </a:t>
                      </a:r>
                    </a:p>
                    <a:p>
                      <a:pPr algn="ctr"/>
                      <a:r>
                        <a:rPr lang="en-GB" sz="900" b="0" spc="0" noProof="0" dirty="0">
                          <a:solidFill>
                            <a:schemeClr val="tx1"/>
                          </a:solidFill>
                          <a:latin typeface="+mn-lt"/>
                        </a:rPr>
                        <a:t>owners</a:t>
                      </a:r>
                    </a:p>
                  </a:txBody>
                  <a:tcPr marL="36000" marR="0" marT="36000" marB="36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spc="0" noProof="0" dirty="0">
                          <a:solidFill>
                            <a:schemeClr val="tx1"/>
                          </a:solidFill>
                          <a:latin typeface="+mn-lt"/>
                        </a:rPr>
                        <a:t>BEV</a:t>
                      </a:r>
                    </a:p>
                    <a:p>
                      <a:pPr algn="ctr"/>
                      <a:r>
                        <a:rPr lang="en-GB" sz="900" b="0" spc="0" noProof="0" dirty="0">
                          <a:solidFill>
                            <a:schemeClr val="tx1"/>
                          </a:solidFill>
                          <a:latin typeface="+mn-lt"/>
                        </a:rPr>
                        <a:t>owners</a:t>
                      </a:r>
                    </a:p>
                  </a:txBody>
                  <a:tcPr marL="36000" marR="0" marT="36000" marB="36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spc="0" noProof="0" dirty="0">
                          <a:solidFill>
                            <a:schemeClr val="tx1"/>
                          </a:solidFill>
                          <a:latin typeface="+mn-lt"/>
                        </a:rPr>
                        <a:t>Combustion engine + Hybrid</a:t>
                      </a:r>
                    </a:p>
                  </a:txBody>
                  <a:tcPr marL="36000" marR="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660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900" b="0" spc="0" noProof="0" dirty="0">
                          <a:solidFill>
                            <a:schemeClr val="tx1"/>
                          </a:solidFill>
                          <a:latin typeface="+mn-lt"/>
                        </a:rPr>
                        <a:t>33</a:t>
                      </a:r>
                    </a:p>
                  </a:txBody>
                  <a:tcPr marL="36000" marR="0" marT="36000" marB="36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spc="0" noProof="0" dirty="0">
                          <a:solidFill>
                            <a:schemeClr val="tx1"/>
                          </a:solidFill>
                          <a:latin typeface="+mn-lt"/>
                        </a:rPr>
                        <a:t>92</a:t>
                      </a:r>
                    </a:p>
                  </a:txBody>
                  <a:tcPr marL="36000" marR="0" marT="36000" marB="3600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0" spc="0" noProof="0" dirty="0">
                          <a:solidFill>
                            <a:schemeClr val="tx1"/>
                          </a:solidFill>
                          <a:latin typeface="+mn-lt"/>
                        </a:rPr>
                        <a:t>78</a:t>
                      </a:r>
                    </a:p>
                  </a:txBody>
                  <a:tcPr marL="36000" marR="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83677"/>
                  </a:ext>
                </a:extLst>
              </a:tr>
            </a:tbl>
          </a:graphicData>
        </a:graphic>
      </p:graphicFrame>
      <p:sp>
        <p:nvSpPr>
          <p:cNvPr id="16" name="Textfeld 15">
            <a:extLst>
              <a:ext uri="{FF2B5EF4-FFF2-40B4-BE49-F238E27FC236}">
                <a16:creationId xmlns:a16="http://schemas.microsoft.com/office/drawing/2014/main" id="{264E0F3A-3B68-68C7-5C0D-FE071D3D8E0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133237" y="1776335"/>
            <a:ext cx="3114914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Subgroups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(Base: current car)</a:t>
            </a:r>
          </a:p>
        </p:txBody>
      </p:sp>
      <p:graphicFrame>
        <p:nvGraphicFramePr>
          <p:cNvPr id="17" name="TABLE02">
            <a:extLst>
              <a:ext uri="{FF2B5EF4-FFF2-40B4-BE49-F238E27FC236}">
                <a16:creationId xmlns:a16="http://schemas.microsoft.com/office/drawing/2014/main" id="{BE3F156B-6895-BDF8-7167-B524ABECAB78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6201841" y="3079960"/>
          <a:ext cx="3046309" cy="540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98911">
                  <a:extLst>
                    <a:ext uri="{9D8B030D-6E8A-4147-A177-3AD203B41FA5}">
                      <a16:colId xmlns:a16="http://schemas.microsoft.com/office/drawing/2014/main" val="661467530"/>
                    </a:ext>
                  </a:extLst>
                </a:gridCol>
                <a:gridCol w="898911">
                  <a:extLst>
                    <a:ext uri="{9D8B030D-6E8A-4147-A177-3AD203B41FA5}">
                      <a16:colId xmlns:a16="http://schemas.microsoft.com/office/drawing/2014/main" val="679681849"/>
                    </a:ext>
                  </a:extLst>
                </a:gridCol>
                <a:gridCol w="1248487">
                  <a:extLst>
                    <a:ext uri="{9D8B030D-6E8A-4147-A177-3AD203B41FA5}">
                      <a16:colId xmlns:a16="http://schemas.microsoft.com/office/drawing/2014/main" val="162145981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5423"/>
                  </a:ext>
                </a:extLst>
              </a:tr>
            </a:tbl>
          </a:graphicData>
        </a:graphic>
      </p:graphicFrame>
      <p:graphicFrame>
        <p:nvGraphicFramePr>
          <p:cNvPr id="18" name="TABLE02">
            <a:extLst>
              <a:ext uri="{FF2B5EF4-FFF2-40B4-BE49-F238E27FC236}">
                <a16:creationId xmlns:a16="http://schemas.microsoft.com/office/drawing/2014/main" id="{73536FB5-7246-22BC-840D-808EE6579DEF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6201841" y="4741113"/>
          <a:ext cx="2986376" cy="864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881226">
                  <a:extLst>
                    <a:ext uri="{9D8B030D-6E8A-4147-A177-3AD203B41FA5}">
                      <a16:colId xmlns:a16="http://schemas.microsoft.com/office/drawing/2014/main" val="661467530"/>
                    </a:ext>
                  </a:extLst>
                </a:gridCol>
                <a:gridCol w="881226">
                  <a:extLst>
                    <a:ext uri="{9D8B030D-6E8A-4147-A177-3AD203B41FA5}">
                      <a16:colId xmlns:a16="http://schemas.microsoft.com/office/drawing/2014/main" val="679681849"/>
                    </a:ext>
                  </a:extLst>
                </a:gridCol>
                <a:gridCol w="1223924">
                  <a:extLst>
                    <a:ext uri="{9D8B030D-6E8A-4147-A177-3AD203B41FA5}">
                      <a16:colId xmlns:a16="http://schemas.microsoft.com/office/drawing/2014/main" val="162145981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4542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292064"/>
                  </a:ext>
                </a:extLst>
              </a:tr>
            </a:tbl>
          </a:graphicData>
        </a:graphic>
      </p:graphicFrame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62E18AFF-326A-5B52-1EF6-86DA4F0AC711}"/>
              </a:ext>
            </a:extLst>
          </p:cNvPr>
          <p:cNvCxnSpPr>
            <a:cxnSpLocks/>
          </p:cNvCxnSpPr>
          <p:nvPr/>
        </p:nvCxnSpPr>
        <p:spPr>
          <a:xfrm rot="16200000">
            <a:off x="7694217" y="2654044"/>
            <a:ext cx="0" cy="2988000"/>
          </a:xfrm>
          <a:prstGeom prst="line">
            <a:avLst/>
          </a:prstGeom>
          <a:ln w="12700" cap="flat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4D430D6B-80F5-7980-087C-C932F654058F}"/>
              </a:ext>
            </a:extLst>
          </p:cNvPr>
          <p:cNvSpPr txBox="1"/>
          <p:nvPr/>
        </p:nvSpPr>
        <p:spPr>
          <a:xfrm>
            <a:off x="337188" y="6135220"/>
            <a:ext cx="76922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Source: HKM Survey, Base: n=203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Question D1 How would you evaluate the exterior design concept of this vehicle?</a:t>
            </a:r>
          </a:p>
        </p:txBody>
      </p:sp>
    </p:spTree>
    <p:extLst>
      <p:ext uri="{BB962C8B-B14F-4D97-AF65-F5344CB8AC3E}">
        <p14:creationId xmlns:p14="http://schemas.microsoft.com/office/powerpoint/2010/main" val="382269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19" grpId="0">
        <p:bldAsOne/>
      </p:bldGraphic>
      <p:bldP spid="21" grpId="0" animBg="1"/>
      <p:bldP spid="1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2"/>
  <p:tag name="SLIDEFAB_EXPORTMODE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1"/>
  <p:tag name="SLIDEFAB_EXPORTMODE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2"/>
  <p:tag name="SLIDEFAB_EXPORTMODE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FAB_POWERPOINTTABLESTARTINROW" val="1"/>
  <p:tag name="SLIDEFAB_RESIZEMODE" val="2"/>
  <p:tag name="SLIDEFAB_EXPORTMODE" val="2"/>
</p:tagLst>
</file>

<file path=ppt/theme/theme1.xml><?xml version="1.0" encoding="utf-8"?>
<a:theme xmlns:a="http://schemas.openxmlformats.org/drawingml/2006/main" name="1_Chapter Slides">
  <a:themeElements>
    <a:clrScheme name="HKM3">
      <a:dk1>
        <a:srgbClr val="595959"/>
      </a:dk1>
      <a:lt1>
        <a:srgbClr val="F2F2F2"/>
      </a:lt1>
      <a:dk2>
        <a:srgbClr val="013B67"/>
      </a:dk2>
      <a:lt2>
        <a:srgbClr val="DBE3ED"/>
      </a:lt2>
      <a:accent1>
        <a:srgbClr val="0260A6"/>
      </a:accent1>
      <a:accent2>
        <a:srgbClr val="0486CE"/>
      </a:accent2>
      <a:accent3>
        <a:srgbClr val="89C8E9"/>
      </a:accent3>
      <a:accent4>
        <a:srgbClr val="FF6600"/>
      </a:accent4>
      <a:accent5>
        <a:srgbClr val="D65700"/>
      </a:accent5>
      <a:accent6>
        <a:srgbClr val="009688"/>
      </a:accent6>
      <a:hlink>
        <a:srgbClr val="4054EC"/>
      </a:hlink>
      <a:folHlink>
        <a:srgbClr val="BD357C"/>
      </a:folHlink>
    </a:clrScheme>
    <a:fontScheme name="HKM1">
      <a:majorFont>
        <a:latin typeface="Tw Cen M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126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Tw Cen MT</vt:lpstr>
      <vt:lpstr>Wingdings</vt:lpstr>
      <vt:lpstr>1_Chapter Slides</vt:lpstr>
      <vt:lpstr>Exterior design evaluation – Mercedes GLS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Adeyemi, Martins Adebola</dc:creator>
  <cp:lastModifiedBy>Adeyemi, Martins Adebola</cp:lastModifiedBy>
  <cp:revision>1</cp:revision>
  <dcterms:created xsi:type="dcterms:W3CDTF">2026-10-12T14:21:53Z</dcterms:created>
  <dcterms:modified xsi:type="dcterms:W3CDTF">2026-10-12T14:29:55Z</dcterms:modified>
</cp:coreProperties>
</file>