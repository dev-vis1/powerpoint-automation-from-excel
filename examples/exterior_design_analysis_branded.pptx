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dPt>
            <c:idx val="0"/>
            <c:spPr>
              <a:solidFill>
                <a:srgbClr val="013B67"/>
              </a:solidFill>
              <a:ln>
                <a:noFill/>
              </a:ln>
            </c:spPr>
          </c:dPt>
          <c:dPt>
            <c:idx val="1"/>
            <c:spPr>
              <a:solidFill>
                <a:srgbClr val="DBE3ED"/>
              </a:solidFill>
              <a:ln>
                <a:noFill/>
              </a:ln>
            </c:spPr>
          </c:dPt>
          <c:dPt>
            <c:idx val="2"/>
            <c:spPr>
              <a:solidFill>
                <a:srgbClr val="F2F2F2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Average rating</c:v>
                </c:pt>
                <c:pt idx="1">
                  <c:v>Remaining</c:v>
                </c:pt>
                <c:pt idx="2">
                  <c:v>Hidden half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8.0935960591133</c:v>
                </c:pt>
                <c:pt idx="1">
                  <c:v>1.9064039408866993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7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013B67"/>
            </a:solidFill>
          </c:spPr>
          <c:cat>
            <c:strRef>
              <c:f>Sheet1!$A$2:$A$9</c:f>
              <c:strCache>
                <c:ptCount val="8"/>
                <c:pt idx="0">
                  <c:v>BMW iX3 (n=16)</c:v>
                </c:pt>
                <c:pt idx="1">
                  <c:v>BMW X3 (n=12)</c:v>
                </c:pt>
                <c:pt idx="2">
                  <c:v>BMW i5 (n=16)</c:v>
                </c:pt>
                <c:pt idx="3">
                  <c:v>Audi A4 (n=15)</c:v>
                </c:pt>
                <c:pt idx="4">
                  <c:v>Audi A6 (n=10)</c:v>
                </c:pt>
                <c:pt idx="5">
                  <c:v>Other (n=110)</c:v>
                </c:pt>
                <c:pt idx="6">
                  <c:v>BMW X7 (n=13)</c:v>
                </c:pt>
                <c:pt idx="7">
                  <c:v>Tesla Model Y (n=11)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9.5</c:v>
                </c:pt>
                <c:pt idx="1">
                  <c:v>8.916666666666666</c:v>
                </c:pt>
                <c:pt idx="2">
                  <c:v>8.625</c:v>
                </c:pt>
                <c:pt idx="3">
                  <c:v>8.533333333333333</c:v>
                </c:pt>
                <c:pt idx="4">
                  <c:v>8.2</c:v>
                </c:pt>
                <c:pt idx="5">
                  <c:v>7.827272727272727</c:v>
                </c:pt>
                <c:pt idx="6">
                  <c:v>7.538461538461538</c:v>
                </c:pt>
                <c:pt idx="7">
                  <c:v>7.0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latin typeface="Century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5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latin typeface="Century Gothi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013B67"/>
            </a:solidFill>
          </c:spPr>
          <c:cat>
            <c:strRef>
              <c:f>Sheet1!$A$2:$A$6</c:f>
              <c:strCache>
                <c:ptCount val="5"/>
                <c:pt idx="0">
                  <c:v>BMW (n=87)</c:v>
                </c:pt>
                <c:pt idx="1">
                  <c:v>Audi (n=58)</c:v>
                </c:pt>
                <c:pt idx="2">
                  <c:v>Mercedes (n=22)</c:v>
                </c:pt>
                <c:pt idx="3">
                  <c:v>Tesla (n=21)</c:v>
                </c:pt>
                <c:pt idx="4">
                  <c:v>Other (n=15)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8.505747126436782</c:v>
                </c:pt>
                <c:pt idx="1">
                  <c:v>8.362068965517242</c:v>
                </c:pt>
                <c:pt idx="2">
                  <c:v>7.5</c:v>
                </c:pt>
                <c:pt idx="3">
                  <c:v>7.190476190476191</c:v>
                </c:pt>
                <c:pt idx="4">
                  <c:v>6.8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latin typeface="Century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5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latin typeface="Century Gothi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013B67"/>
            </a:solidFill>
          </c:spPr>
          <c:cat>
            <c:strRef>
              <c:f>Sheet1!$A$2:$A$4</c:f>
              <c:strCache>
                <c:ptCount val="3"/>
                <c:pt idx="0">
                  <c:v>BEV (n=92)</c:v>
                </c:pt>
                <c:pt idx="1">
                  <c:v>Combustion engine + hybrid (n=78)</c:v>
                </c:pt>
                <c:pt idx="2">
                  <c:v>PHEV (n=33)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8.380434782608695</c:v>
                </c:pt>
                <c:pt idx="1">
                  <c:v>7.948717948717949</c:v>
                </c:pt>
                <c:pt idx="2">
                  <c:v>7.636363636363637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latin typeface="Century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5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latin typeface="Century Gothi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013B67"/>
            </a:solidFill>
          </c:spPr>
          <c:cat>
            <c:strRef>
              <c:f>Sheet1!$A$2:$A$9</c:f>
              <c:strCache>
                <c:ptCount val="8"/>
                <c:pt idx="0">
                  <c:v>BMW</c:v>
                </c:pt>
                <c:pt idx="1">
                  <c:v>Audi</c:v>
                </c:pt>
                <c:pt idx="2">
                  <c:v>Mercedes</c:v>
                </c:pt>
                <c:pt idx="3">
                  <c:v>Tesla</c:v>
                </c:pt>
                <c:pt idx="4">
                  <c:v>Other</c:v>
                </c:pt>
                <c:pt idx="5">
                  <c:v>Volvo</c:v>
                </c:pt>
                <c:pt idx="6">
                  <c:v>Škoda</c:v>
                </c:pt>
                <c:pt idx="7">
                  <c:v>VW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87</c:v>
                </c:pt>
                <c:pt idx="1">
                  <c:v>58</c:v>
                </c:pt>
                <c:pt idx="2">
                  <c:v>22</c:v>
                </c:pt>
                <c:pt idx="3">
                  <c:v>21</c:v>
                </c:pt>
                <c:pt idx="4">
                  <c:v>8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latin typeface="Century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4.39999999999999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latin typeface="Century Gothi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013B67"/>
            </a:solidFill>
          </c:spPr>
          <c:cat>
            <c:strRef>
              <c:f>Sheet1!$A$2:$A$9</c:f>
              <c:strCache>
                <c:ptCount val="8"/>
                <c:pt idx="0">
                  <c:v>Other</c:v>
                </c:pt>
                <c:pt idx="1">
                  <c:v>BMW iX3</c:v>
                </c:pt>
                <c:pt idx="2">
                  <c:v>BMW i5</c:v>
                </c:pt>
                <c:pt idx="3">
                  <c:v>Audi A4</c:v>
                </c:pt>
                <c:pt idx="4">
                  <c:v>BMW X7</c:v>
                </c:pt>
                <c:pt idx="5">
                  <c:v>BMW X3</c:v>
                </c:pt>
                <c:pt idx="6">
                  <c:v>Tesla Model Y</c:v>
                </c:pt>
                <c:pt idx="7">
                  <c:v>Audi A6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110</c:v>
                </c:pt>
                <c:pt idx="1">
                  <c:v>16</c:v>
                </c:pt>
                <c:pt idx="2">
                  <c:v>16</c:v>
                </c:pt>
                <c:pt idx="3">
                  <c:v>15</c:v>
                </c:pt>
                <c:pt idx="4">
                  <c:v>13</c:v>
                </c:pt>
                <c:pt idx="5">
                  <c:v>12</c:v>
                </c:pt>
                <c:pt idx="6">
                  <c:v>11</c:v>
                </c:pt>
                <c:pt idx="7">
                  <c:v>10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latin typeface="Century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2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latin typeface="Century Gothi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1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1">
                <a:solidFill>
                  <a:srgbClr val="013B67"/>
                </a:solidFill>
                <a:latin typeface="Tw Cen MT"/>
              </a:defRPr>
            </a:pPr>
            <a:r>
              <a:t>HKM  /  CUSTOMER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013B67"/>
                </a:solidFill>
                <a:latin typeface="Tw Cen MT"/>
              </a:defRPr>
            </a:pPr>
            <a:r>
              <a:t>Exterior design concept earns strong ratings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25312"/>
            <a:ext cx="90525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Source: data-set.csv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905256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Question answered: How would you evaluate the exterior design concept of this vehicle?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6528816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0">
                <a:solidFill>
                  <a:srgbClr val="595959"/>
                </a:solidFill>
                <a:latin typeface="Century Gothic"/>
              </a:defRPr>
            </a:pPr>
            <a:r>
              <a:t>1</a:t>
            </a:r>
          </a:p>
        </p:txBody>
      </p:sp>
      <p:pic>
        <p:nvPicPr>
          <p:cNvPr id="8" name="Picture 7" descr="hk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6163056"/>
            <a:ext cx="1645920" cy="5669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627632"/>
            <a:ext cx="10927080" cy="438912"/>
          </a:xfrm>
          <a:prstGeom prst="rect">
            <a:avLst/>
          </a:prstGeom>
          <a:solidFill>
            <a:srgbClr val="DB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627632"/>
            <a:ext cx="54864" cy="438912"/>
          </a:xfrm>
          <a:prstGeom prst="rect">
            <a:avLst/>
          </a:prstGeom>
          <a:solidFill>
            <a:srgbClr val="01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82496"/>
            <a:ext cx="1051560" cy="1645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1">
                <a:solidFill>
                  <a:srgbClr val="013B67"/>
                </a:solidFill>
                <a:latin typeface="Century Gothic"/>
              </a:defRPr>
            </a:pPr>
            <a: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64208"/>
            <a:ext cx="9464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595959"/>
                </a:solidFill>
                <a:latin typeface="Century Gothic"/>
              </a:defRPr>
            </a:pPr>
            <a:r>
              <a:t>The design resonates with a majority: 51% rate it 9-10, rising to 63% among current BEV owners.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5800" y="2048256"/>
          <a:ext cx="3063240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12874" y="3242919"/>
            <a:ext cx="140909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013B67"/>
                </a:solidFill>
                <a:latin typeface="Tw Cen MT"/>
              </a:defRPr>
            </a:pPr>
            <a:r>
              <a:t>8.1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5918" y="3794302"/>
            <a:ext cx="2083003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1">
                <a:solidFill>
                  <a:srgbClr val="595959"/>
                </a:solidFill>
                <a:latin typeface="Century Gothic"/>
              </a:defRPr>
            </a:pPr>
            <a:r>
              <a:t>Average 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94" y="4192524"/>
            <a:ext cx="2695651" cy="2011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Score on 10-point 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2" y="2212848"/>
            <a:ext cx="2240280" cy="877824"/>
          </a:xfrm>
          <a:prstGeom prst="rect">
            <a:avLst/>
          </a:prstGeom>
          <a:solidFill>
            <a:srgbClr val="F2F2F2"/>
          </a:solidFill>
          <a:ln>
            <a:solidFill>
              <a:srgbClr val="DB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2816" y="2304288"/>
            <a:ext cx="196596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013B67"/>
                </a:solidFill>
                <a:latin typeface="Tw Cen MT"/>
              </a:defRPr>
            </a:pPr>
            <a:r>
              <a:t>203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2724912"/>
            <a:ext cx="196596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95959"/>
                </a:solidFill>
                <a:latin typeface="Century Gothic"/>
              </a:defRPr>
            </a:pPr>
            <a:r>
              <a:t>Respondent 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9672" y="2212848"/>
            <a:ext cx="2240280" cy="877824"/>
          </a:xfrm>
          <a:prstGeom prst="rect">
            <a:avLst/>
          </a:prstGeom>
          <a:solidFill>
            <a:srgbClr val="F2F2F2"/>
          </a:solidFill>
          <a:ln>
            <a:solidFill>
              <a:srgbClr val="DB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5976" y="2304288"/>
            <a:ext cx="196596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013B67"/>
                </a:solidFill>
                <a:latin typeface="Tw Cen MT"/>
              </a:defRPr>
            </a:pPr>
            <a:r>
              <a:t>51%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2724912"/>
            <a:ext cx="196596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95959"/>
                </a:solidFill>
                <a:latin typeface="Century Gothic"/>
              </a:defRPr>
            </a:pPr>
            <a:r>
              <a:t>Top-box · 9-10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2832" y="2212848"/>
            <a:ext cx="2423160" cy="877824"/>
          </a:xfrm>
          <a:prstGeom prst="rect">
            <a:avLst/>
          </a:prstGeom>
          <a:solidFill>
            <a:srgbClr val="F2F2F2"/>
          </a:solidFill>
          <a:ln>
            <a:solidFill>
              <a:srgbClr val="DB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2304288"/>
            <a:ext cx="21488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013B67"/>
                </a:solidFill>
                <a:latin typeface="Tw Cen MT"/>
              </a:defRPr>
            </a:pPr>
            <a:r>
              <a:t>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724912"/>
            <a:ext cx="214884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95959"/>
                </a:solidFill>
                <a:latin typeface="Century Gothic"/>
              </a:defRPr>
            </a:pPr>
            <a:r>
              <a:t>Bottom-box · 1-4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7" y="3401568"/>
            <a:ext cx="6858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1">
                <a:solidFill>
                  <a:srgbClr val="013B67"/>
                </a:solidFill>
                <a:latin typeface="Century Gothic"/>
              </a:defRPr>
            </a:pPr>
            <a:r>
              <a:t>BY CURRENT DRIVE TYPE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041648" y="3675887"/>
          <a:ext cx="747979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768"/>
                <a:gridCol w="823463"/>
                <a:gridCol w="1029329"/>
                <a:gridCol w="1543993"/>
                <a:gridCol w="1681237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Subgroup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Base (n)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Mean / 10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Top-box 9-10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Bottom-box 1-4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BEV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63% (58)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5% (5)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Combustion engine + 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45% (35)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4%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PHEV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33% (11)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6% (2)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58368" y="5733288"/>
            <a:ext cx="1078992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0">
                <a:solidFill>
                  <a:srgbClr val="595959"/>
                </a:solidFill>
                <a:latin typeface="Century Gothic"/>
              </a:defRPr>
            </a:pPr>
            <a:r>
              <a:t>Not captured in this file: demographics, purchase intent/rejection, pricing expectations, emerging-brand acceptance.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1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1">
                <a:solidFill>
                  <a:srgbClr val="013B67"/>
                </a:solidFill>
                <a:latin typeface="Tw Cen MT"/>
              </a:defRPr>
            </a:pPr>
            <a:r>
              <a:t>HKM  /  CUSTOMER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013B67"/>
                </a:solidFill>
                <a:latin typeface="Tw Cen MT"/>
              </a:defRPr>
            </a:pPr>
            <a:r>
              <a:t>Exterior design concept rating by current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25312"/>
            <a:ext cx="90525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Source: data-set.csv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905256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Question answered: How does the exterior design concept score differ by current model?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6528816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0">
                <a:solidFill>
                  <a:srgbClr val="595959"/>
                </a:solidFill>
                <a:latin typeface="Century Gothic"/>
              </a:defRPr>
            </a:pPr>
            <a:r>
              <a:t>2</a:t>
            </a:r>
          </a:p>
        </p:txBody>
      </p:sp>
      <p:pic>
        <p:nvPicPr>
          <p:cNvPr id="8" name="Picture 7" descr="hk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6163056"/>
            <a:ext cx="1645920" cy="5669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627632"/>
            <a:ext cx="10927080" cy="438912"/>
          </a:xfrm>
          <a:prstGeom prst="rect">
            <a:avLst/>
          </a:prstGeom>
          <a:solidFill>
            <a:srgbClr val="DB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627632"/>
            <a:ext cx="54864" cy="438912"/>
          </a:xfrm>
          <a:prstGeom prst="rect">
            <a:avLst/>
          </a:prstGeom>
          <a:solidFill>
            <a:srgbClr val="01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82496"/>
            <a:ext cx="1051560" cy="1645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1">
                <a:solidFill>
                  <a:srgbClr val="013B67"/>
                </a:solidFill>
                <a:latin typeface="Century Gothic"/>
              </a:defRPr>
            </a:pPr>
            <a: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64208"/>
            <a:ext cx="9464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595959"/>
                </a:solidFill>
                <a:latin typeface="Century Gothic"/>
              </a:defRPr>
            </a:pPr>
            <a:r>
              <a:t>BMW iX3 scores highest (9.5/10, n=16); Tesla Model Y is lowest (7.0/10, n=11).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107899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595959"/>
                </a:solidFill>
                <a:latin typeface="Century Gothic"/>
              </a:defRPr>
            </a:pPr>
            <a:r>
              <a:t>Exterior design concept · mean rating / 10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0080" y="2487168"/>
          <a:ext cx="10881360" cy="1965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4572000"/>
          <a:ext cx="1088136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234440"/>
                <a:gridCol w="1554480"/>
                <a:gridCol w="2148840"/>
                <a:gridCol w="2468880"/>
              </a:tblGrid>
              <a:tr h="1747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Subgroup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Base (n)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Mean / 10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Top-box 9-10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Bottom-box 1-4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BMW iX3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94% (15)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0% (0)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BMW X3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83% (10)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0% (0)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BMW i5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8.6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75% (12)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0% (0)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Audi A4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67% (10)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0% (0)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Audi A6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8.2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40% (4)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0% (0)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41% 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6% (7)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BMW X7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7.5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31% (4)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0% (0)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Tesla Model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36%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27%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1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1">
                <a:solidFill>
                  <a:srgbClr val="013B67"/>
                </a:solidFill>
                <a:latin typeface="Tw Cen MT"/>
              </a:defRPr>
            </a:pPr>
            <a:r>
              <a:t>HKM  /  CUSTOMER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013B67"/>
                </a:solidFill>
                <a:latin typeface="Tw Cen MT"/>
              </a:defRPr>
            </a:pPr>
            <a:r>
              <a:t>Exterior design concept rating by current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25312"/>
            <a:ext cx="90525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Source: data-set.csv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905256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Question answered: How does the exterior design concept score differ by current brand?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6528816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0">
                <a:solidFill>
                  <a:srgbClr val="595959"/>
                </a:solidFill>
                <a:latin typeface="Century Gothic"/>
              </a:defRPr>
            </a:pPr>
            <a:r>
              <a:t>3</a:t>
            </a:r>
          </a:p>
        </p:txBody>
      </p:sp>
      <p:pic>
        <p:nvPicPr>
          <p:cNvPr id="8" name="Picture 7" descr="hk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6163056"/>
            <a:ext cx="1645920" cy="5669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627632"/>
            <a:ext cx="10927080" cy="438912"/>
          </a:xfrm>
          <a:prstGeom prst="rect">
            <a:avLst/>
          </a:prstGeom>
          <a:solidFill>
            <a:srgbClr val="DB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627632"/>
            <a:ext cx="54864" cy="438912"/>
          </a:xfrm>
          <a:prstGeom prst="rect">
            <a:avLst/>
          </a:prstGeom>
          <a:solidFill>
            <a:srgbClr val="01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82496"/>
            <a:ext cx="1051560" cy="1645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1">
                <a:solidFill>
                  <a:srgbClr val="013B67"/>
                </a:solidFill>
                <a:latin typeface="Century Gothic"/>
              </a:defRPr>
            </a:pPr>
            <a: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64208"/>
            <a:ext cx="9464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595959"/>
                </a:solidFill>
                <a:latin typeface="Century Gothic"/>
              </a:defRPr>
            </a:pPr>
            <a:r>
              <a:t>BMW scores highest (8.5/10, n=87); Other is lowest (6.8/10, n=15).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107899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595959"/>
                </a:solidFill>
                <a:latin typeface="Century Gothic"/>
              </a:defRPr>
            </a:pPr>
            <a:r>
              <a:t>Exterior design concept · mean rating / 10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0080" y="2487168"/>
          <a:ext cx="10881360" cy="1965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4572000"/>
          <a:ext cx="1088136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234440"/>
                <a:gridCol w="1554480"/>
                <a:gridCol w="2148840"/>
                <a:gridCol w="2468880"/>
              </a:tblGrid>
              <a:tr h="2621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Subgroup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Base (n)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Mean / 10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Top-box 9-10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Bottom-box 1-4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BMW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8.5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63% (55)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0% (0)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Audi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55% (32)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2% 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Mercedes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7.5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36% (8)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14% (3)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Tesla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29% (6)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19%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6.8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20% (3)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13% (2)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1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1">
                <a:solidFill>
                  <a:srgbClr val="013B67"/>
                </a:solidFill>
                <a:latin typeface="Tw Cen MT"/>
              </a:defRPr>
            </a:pPr>
            <a:r>
              <a:t>HKM  /  CUSTOMER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013B67"/>
                </a:solidFill>
                <a:latin typeface="Tw Cen MT"/>
              </a:defRPr>
            </a:pPr>
            <a:r>
              <a:t>Exterior design concept rating by current drive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25312"/>
            <a:ext cx="90525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Source: data-set.csv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905256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Question answered: How does the exterior design concept score differ by current drive type?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6528816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0">
                <a:solidFill>
                  <a:srgbClr val="595959"/>
                </a:solidFill>
                <a:latin typeface="Century Gothic"/>
              </a:defRPr>
            </a:pPr>
            <a:r>
              <a:t>4</a:t>
            </a:r>
          </a:p>
        </p:txBody>
      </p:sp>
      <p:pic>
        <p:nvPicPr>
          <p:cNvPr id="8" name="Picture 7" descr="hk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6163056"/>
            <a:ext cx="1645920" cy="5669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627632"/>
            <a:ext cx="10927080" cy="438912"/>
          </a:xfrm>
          <a:prstGeom prst="rect">
            <a:avLst/>
          </a:prstGeom>
          <a:solidFill>
            <a:srgbClr val="DB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627632"/>
            <a:ext cx="54864" cy="438912"/>
          </a:xfrm>
          <a:prstGeom prst="rect">
            <a:avLst/>
          </a:prstGeom>
          <a:solidFill>
            <a:srgbClr val="01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82496"/>
            <a:ext cx="1051560" cy="1645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1">
                <a:solidFill>
                  <a:srgbClr val="013B67"/>
                </a:solidFill>
                <a:latin typeface="Century Gothic"/>
              </a:defRPr>
            </a:pPr>
            <a: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64208"/>
            <a:ext cx="9464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595959"/>
                </a:solidFill>
                <a:latin typeface="Century Gothic"/>
              </a:defRPr>
            </a:pPr>
            <a:r>
              <a:t>BEV scores highest (8.4/10, n=92); PHEV is lowest (7.6/10, n=33).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107899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595959"/>
                </a:solidFill>
                <a:latin typeface="Century Gothic"/>
              </a:defRPr>
            </a:pPr>
            <a:r>
              <a:t>Exterior design concept · mean rating / 10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0080" y="2487168"/>
          <a:ext cx="10881360" cy="1965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457200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234440"/>
                <a:gridCol w="1554480"/>
                <a:gridCol w="2148840"/>
                <a:gridCol w="246888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Subgroup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Base (n)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Mean / 10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Top-box 9-10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Bottom-box 1-4</a:t>
                      </a:r>
                    </a:p>
                  </a:txBody>
                  <a:tcPr>
                    <a:solidFill>
                      <a:srgbClr val="013B6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BEV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63% (58)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5% (5)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Combustion engine + 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45% (35)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4%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PHEV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33% (11)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95959"/>
                          </a:solidFill>
                          <a:latin typeface="Century Gothic"/>
                        </a:defRPr>
                      </a:pPr>
                      <a:r>
                        <a:t>6% (2)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1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1">
                <a:solidFill>
                  <a:srgbClr val="013B67"/>
                </a:solidFill>
                <a:latin typeface="Tw Cen MT"/>
              </a:defRPr>
            </a:pPr>
            <a:r>
              <a:t>HKM  /  CUSTOMER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013B67"/>
                </a:solidFill>
                <a:latin typeface="Tw Cen MT"/>
              </a:defRPr>
            </a:pPr>
            <a:r>
              <a:t>Respondent profile: Make &amp;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25312"/>
            <a:ext cx="90525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Source: data-set.csv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905256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Question answered: How is the respondent base distributed across Make &amp; model?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6528816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0">
                <a:solidFill>
                  <a:srgbClr val="595959"/>
                </a:solidFill>
                <a:latin typeface="Century Gothic"/>
              </a:defRPr>
            </a:pPr>
            <a:r>
              <a:t>5</a:t>
            </a:r>
          </a:p>
        </p:txBody>
      </p:sp>
      <p:pic>
        <p:nvPicPr>
          <p:cNvPr id="8" name="Picture 7" descr="hk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6163056"/>
            <a:ext cx="1645920" cy="5669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627632"/>
            <a:ext cx="10927080" cy="438912"/>
          </a:xfrm>
          <a:prstGeom prst="rect">
            <a:avLst/>
          </a:prstGeom>
          <a:solidFill>
            <a:srgbClr val="DB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627632"/>
            <a:ext cx="54864" cy="438912"/>
          </a:xfrm>
          <a:prstGeom prst="rect">
            <a:avLst/>
          </a:prstGeom>
          <a:solidFill>
            <a:srgbClr val="01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82496"/>
            <a:ext cx="1051560" cy="1645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1">
                <a:solidFill>
                  <a:srgbClr val="013B67"/>
                </a:solidFill>
                <a:latin typeface="Century Gothic"/>
              </a:defRPr>
            </a:pPr>
            <a: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64208"/>
            <a:ext cx="9464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595959"/>
                </a:solidFill>
                <a:latin typeface="Century Gothic"/>
              </a:defRPr>
            </a:pPr>
            <a:r>
              <a:t>Most common: BMW, 87 of 203 respondents (43%).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107899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595959"/>
                </a:solidFill>
                <a:latin typeface="Century Gothic"/>
              </a:defRPr>
            </a:pPr>
            <a:r>
              <a:t>203 answered · case frequency by category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0080" y="2487168"/>
          <a:ext cx="10881360" cy="3520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1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1">
                <a:solidFill>
                  <a:srgbClr val="013B67"/>
                </a:solidFill>
                <a:latin typeface="Tw Cen MT"/>
              </a:defRPr>
            </a:pPr>
            <a:r>
              <a:t>HKM  /  CUSTOMER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013B67"/>
                </a:solidFill>
                <a:latin typeface="Tw Cen MT"/>
              </a:defRPr>
            </a:pPr>
            <a:r>
              <a:t>Respondent profile: Make &amp;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25312"/>
            <a:ext cx="90525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Source: data-set.csv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905256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95959"/>
                </a:solidFill>
                <a:latin typeface="Century Gothic"/>
              </a:defRPr>
            </a:pPr>
            <a:r>
              <a:t>Question answered: How is the respondent base distributed across Make &amp; model?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6528816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0">
                <a:solidFill>
                  <a:srgbClr val="595959"/>
                </a:solidFill>
                <a:latin typeface="Century Gothic"/>
              </a:defRPr>
            </a:pPr>
            <a:r>
              <a:t>6</a:t>
            </a:r>
          </a:p>
        </p:txBody>
      </p:sp>
      <p:pic>
        <p:nvPicPr>
          <p:cNvPr id="8" name="Picture 7" descr="hk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6163056"/>
            <a:ext cx="1645920" cy="5669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627632"/>
            <a:ext cx="10927080" cy="438912"/>
          </a:xfrm>
          <a:prstGeom prst="rect">
            <a:avLst/>
          </a:prstGeom>
          <a:solidFill>
            <a:srgbClr val="DB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627632"/>
            <a:ext cx="54864" cy="438912"/>
          </a:xfrm>
          <a:prstGeom prst="rect">
            <a:avLst/>
          </a:prstGeom>
          <a:solidFill>
            <a:srgbClr val="01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82496"/>
            <a:ext cx="1051560" cy="1645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1">
                <a:solidFill>
                  <a:srgbClr val="013B67"/>
                </a:solidFill>
                <a:latin typeface="Century Gothic"/>
              </a:defRPr>
            </a:pPr>
            <a: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64208"/>
            <a:ext cx="9464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595959"/>
                </a:solidFill>
                <a:latin typeface="Century Gothic"/>
              </a:defRPr>
            </a:pPr>
            <a:r>
              <a:t>Most common: Other, 110 of 203 respondents (54%).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107899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595959"/>
                </a:solidFill>
                <a:latin typeface="Century Gothic"/>
              </a:defRPr>
            </a:pPr>
            <a:r>
              <a:t>203 answered · case frequency by category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0080" y="2487168"/>
          <a:ext cx="10881360" cy="3520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