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1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Rating</c:v>
                </c:pt>
              </c:strCache>
            </c:strRef>
          </c:tx>
          <c:dPt>
            <c:idx val="0"/>
            <c:spPr>
              <a:solidFill>
                <a:srgbClr val="107370"/>
              </a:solidFill>
              <a:ln>
                <a:noFill/>
              </a:ln>
            </c:spPr>
          </c:dPt>
          <c:dPt>
            <c:idx val="1"/>
            <c:spPr>
              <a:solidFill>
                <a:srgbClr val="D6DCDF"/>
              </a:solidFill>
              <a:ln>
                <a:noFill/>
              </a:ln>
            </c:spPr>
          </c:dPt>
          <c:dPt>
            <c:idx val="2"/>
            <c:spPr>
              <a:solidFill>
                <a:srgbClr val="F5F8F7"/>
              </a:solidFill>
              <a:ln>
                <a:noFill/>
              </a:ln>
            </c:spPr>
          </c:dPt>
          <c:cat>
            <c:strRef>
              <c:f>Sheet1!$A$2:$A$4</c:f>
              <c:strCache>
                <c:ptCount val="3"/>
                <c:pt idx="0">
                  <c:v>Average rating</c:v>
                </c:pt>
                <c:pt idx="1">
                  <c:v>Remaining</c:v>
                </c:pt>
                <c:pt idx="2">
                  <c:v>Hidden half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8.0935960591133</c:v>
                </c:pt>
                <c:pt idx="1">
                  <c:v>1.9064039408866993</c:v>
                </c:pt>
                <c:pt idx="2">
                  <c:v>10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70"/>
        <c:holeSize val="72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Responses</c:v>
                </c:pt>
              </c:strCache>
            </c:strRef>
          </c:tx>
          <c:spPr>
            <a:solidFill>
              <a:srgbClr val="DF6F53"/>
            </a:solidFill>
          </c:spPr>
          <c:cat>
            <c:strRef>
              <c:f>Sheet1!$A$2:$A$4</c:f>
              <c:strCache>
                <c:ptCount val="3"/>
                <c:pt idx="0">
                  <c:v>BEV (n=92)</c:v>
                </c:pt>
                <c:pt idx="1">
                  <c:v>Combustion engine + hybrid (n=78)</c:v>
                </c:pt>
                <c:pt idx="2">
                  <c:v>PHEV (n=33)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8.380434782608695</c:v>
                </c:pt>
                <c:pt idx="1">
                  <c:v>7.948717948717949</c:v>
                </c:pt>
                <c:pt idx="2">
                  <c:v>7.636363636363637</c:v>
                </c:pt>
              </c:numCache>
            </c:numRef>
          </c:val>
        </c:ser>
        <c:dLbls>
          <c:numFmt formatCode="0.0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.5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107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572000" cy="2743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100" b="1">
                <a:solidFill>
                  <a:srgbClr val="107370"/>
                </a:solidFill>
                <a:latin typeface="Aptos"/>
              </a:defRPr>
            </a:pPr>
            <a:r>
              <a:t>SURVEY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80467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2800" b="1">
                <a:solidFill>
                  <a:srgbClr val="1D3035"/>
                </a:solidFill>
                <a:latin typeface="Aptos"/>
              </a:defRPr>
            </a:pPr>
            <a:r>
              <a:t>Exterior design concept earns strong ratings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99632"/>
            <a:ext cx="10058400" cy="5029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800" b="0">
                <a:solidFill>
                  <a:srgbClr val="5F7072"/>
                </a:solidFill>
                <a:latin typeface="Aptos"/>
              </a:defRPr>
            </a:pPr>
            <a:r>
              <a:t>Source: data-set.csv</a:t>
            </a:r>
            <a:br/>
            <a:r>
              <a:t>Question answered: How would you evaluate the exterior design concept of this vehicle?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000" b="0">
                <a:solidFill>
                  <a:srgbClr val="5F7072"/>
                </a:solidFill>
                <a:latin typeface="Aptos"/>
              </a:defRPr>
            </a:pPr>
            <a:r>
              <a:t>1 / 2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627632"/>
            <a:ext cx="10927080" cy="438912"/>
          </a:xfrm>
          <a:prstGeom prst="rect">
            <a:avLst/>
          </a:prstGeom>
          <a:solidFill>
            <a:srgbClr val="EA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1627632"/>
            <a:ext cx="54864" cy="438912"/>
          </a:xfrm>
          <a:prstGeom prst="rect">
            <a:avLst/>
          </a:prstGeom>
          <a:solidFill>
            <a:srgbClr val="107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682496"/>
            <a:ext cx="1051560" cy="16459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900" b="1">
                <a:solidFill>
                  <a:srgbClr val="107370"/>
                </a:solidFill>
                <a:latin typeface="Aptos"/>
              </a:defRPr>
            </a:pPr>
            <a:r>
              <a:t>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664208"/>
            <a:ext cx="9464040" cy="31089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200" b="1">
                <a:solidFill>
                  <a:srgbClr val="1D3035"/>
                </a:solidFill>
                <a:latin typeface="Aptos"/>
              </a:defRPr>
            </a:pPr>
            <a:r>
              <a:t>The design resonates with a majority: 51% rate it 9-10, rising to 63% among current BEV owners.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85800" y="2048256"/>
          <a:ext cx="3063240" cy="3063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512874" y="3242919"/>
            <a:ext cx="1409090" cy="38404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2500" b="1">
                <a:solidFill>
                  <a:srgbClr val="1D3035"/>
                </a:solidFill>
                <a:latin typeface="Aptos"/>
              </a:defRPr>
            </a:pPr>
            <a:r>
              <a:t>8.1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5918" y="3794302"/>
            <a:ext cx="2083003" cy="21945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000" b="1">
                <a:solidFill>
                  <a:srgbClr val="1D3035"/>
                </a:solidFill>
                <a:latin typeface="Aptos"/>
              </a:defRPr>
            </a:pPr>
            <a:r>
              <a:t>Average rating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594" y="4192524"/>
            <a:ext cx="2695651" cy="20116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800" b="0">
                <a:solidFill>
                  <a:srgbClr val="5F7072"/>
                </a:solidFill>
                <a:latin typeface="Aptos"/>
              </a:defRPr>
            </a:pPr>
            <a:r>
              <a:t>Score on 10-point scale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96512" y="2212848"/>
            <a:ext cx="2240280" cy="877824"/>
          </a:xfrm>
          <a:prstGeom prst="rect">
            <a:avLst/>
          </a:prstGeom>
          <a:solidFill>
            <a:srgbClr val="FFFFFF"/>
          </a:solidFill>
          <a:ln>
            <a:solidFill>
              <a:srgbClr val="D7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42816" y="2304288"/>
            <a:ext cx="1965960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2500" b="1">
                <a:solidFill>
                  <a:srgbClr val="107370"/>
                </a:solidFill>
                <a:latin typeface="Aptos"/>
              </a:defRPr>
            </a:pPr>
            <a:r>
              <a:t>203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42816" y="2724912"/>
            <a:ext cx="196596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000" b="0">
                <a:solidFill>
                  <a:srgbClr val="5F7072"/>
                </a:solidFill>
                <a:latin typeface="Aptos"/>
              </a:defRPr>
            </a:pPr>
            <a:r>
              <a:t>Respondent base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19672" y="2212848"/>
            <a:ext cx="2240280" cy="877824"/>
          </a:xfrm>
          <a:prstGeom prst="rect">
            <a:avLst/>
          </a:prstGeom>
          <a:solidFill>
            <a:srgbClr val="FFFFFF"/>
          </a:solidFill>
          <a:ln>
            <a:solidFill>
              <a:srgbClr val="D7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65976" y="2304288"/>
            <a:ext cx="1965960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2500" b="1">
                <a:solidFill>
                  <a:srgbClr val="107370"/>
                </a:solidFill>
                <a:latin typeface="Aptos"/>
              </a:defRPr>
            </a:pPr>
            <a:r>
              <a:t>51%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5976" y="2724912"/>
            <a:ext cx="196596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000" b="0">
                <a:solidFill>
                  <a:srgbClr val="5F7072"/>
                </a:solidFill>
                <a:latin typeface="Aptos"/>
              </a:defRPr>
            </a:pPr>
            <a:r>
              <a:t>Top-box · 9-10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42832" y="2212848"/>
            <a:ext cx="2423160" cy="877824"/>
          </a:xfrm>
          <a:prstGeom prst="rect">
            <a:avLst/>
          </a:prstGeom>
          <a:solidFill>
            <a:srgbClr val="FFFFFF"/>
          </a:solidFill>
          <a:ln>
            <a:solidFill>
              <a:srgbClr val="D7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89136" y="2304288"/>
            <a:ext cx="2148840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2500" b="1">
                <a:solidFill>
                  <a:srgbClr val="107370"/>
                </a:solidFill>
                <a:latin typeface="Aptos"/>
              </a:defRPr>
            </a:pPr>
            <a:r>
              <a:t>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2724912"/>
            <a:ext cx="214884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000" b="0">
                <a:solidFill>
                  <a:srgbClr val="5F7072"/>
                </a:solidFill>
                <a:latin typeface="Aptos"/>
              </a:defRPr>
            </a:pPr>
            <a:r>
              <a:t>Bottom-box · 1-4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33087" y="3401568"/>
            <a:ext cx="6858000" cy="21945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000" b="1">
                <a:solidFill>
                  <a:srgbClr val="107370"/>
                </a:solidFill>
                <a:latin typeface="Aptos"/>
              </a:defRPr>
            </a:pPr>
            <a:r>
              <a:t>BY CURRENT DRIVE TYPE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4041648" y="3675887"/>
          <a:ext cx="747979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1768"/>
                <a:gridCol w="823463"/>
                <a:gridCol w="1029329"/>
                <a:gridCol w="1543993"/>
                <a:gridCol w="1681237"/>
              </a:tblGrid>
              <a:tr h="2743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Subgroup</a:t>
                      </a:r>
                    </a:p>
                  </a:txBody>
                  <a:tcPr>
                    <a:solidFill>
                      <a:srgbClr val="1073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Base (n)</a:t>
                      </a:r>
                    </a:p>
                  </a:txBody>
                  <a:tcPr>
                    <a:solidFill>
                      <a:srgbClr val="1073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Mean / 10</a:t>
                      </a:r>
                    </a:p>
                  </a:txBody>
                  <a:tcPr>
                    <a:solidFill>
                      <a:srgbClr val="1073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Top-box 9-10</a:t>
                      </a:r>
                    </a:p>
                  </a:txBody>
                  <a:tcPr>
                    <a:solidFill>
                      <a:srgbClr val="1073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Bottom-box 1-4</a:t>
                      </a:r>
                    </a:p>
                  </a:txBody>
                  <a:tcPr>
                    <a:solidFill>
                      <a:srgbClr val="10737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BEV</a:t>
                      </a:r>
                    </a:p>
                  </a:txBody>
                  <a:tcPr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92</a:t>
                      </a:r>
                    </a:p>
                  </a:txBody>
                  <a:tcPr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8.4</a:t>
                      </a:r>
                    </a:p>
                  </a:txBody>
                  <a:tcPr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63% (58)</a:t>
                      </a:r>
                    </a:p>
                  </a:txBody>
                  <a:tcPr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5% (5)</a:t>
                      </a:r>
                    </a:p>
                  </a:txBody>
                  <a:tcPr>
                    <a:solidFill>
                      <a:srgbClr val="F5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Combustion engine + hybrid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7.9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45% (35)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4% (3)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PHEV</a:t>
                      </a:r>
                    </a:p>
                  </a:txBody>
                  <a:tcPr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33</a:t>
                      </a:r>
                    </a:p>
                  </a:txBody>
                  <a:tcPr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7.6</a:t>
                      </a:r>
                    </a:p>
                  </a:txBody>
                  <a:tcPr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33% (11)</a:t>
                      </a:r>
                    </a:p>
                  </a:txBody>
                  <a:tcPr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6% (2)</a:t>
                      </a:r>
                    </a:p>
                  </a:txBody>
                  <a:tcPr>
                    <a:solidFill>
                      <a:srgbClr val="F5F8F7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58368" y="5733288"/>
            <a:ext cx="10789920" cy="31089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900" b="0">
                <a:solidFill>
                  <a:srgbClr val="5F7072"/>
                </a:solidFill>
                <a:latin typeface="Aptos"/>
              </a:defRPr>
            </a:pPr>
            <a:r>
              <a:t>Not captured in this file: demographics, purchase intent/rejection, pricing expectations, emerging-brand acceptance.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107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572000" cy="2743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100" b="1">
                <a:solidFill>
                  <a:srgbClr val="107370"/>
                </a:solidFill>
                <a:latin typeface="Aptos"/>
              </a:defRPr>
            </a:pPr>
            <a:r>
              <a:t>SURVEY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80467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2800" b="1">
                <a:solidFill>
                  <a:srgbClr val="1D3035"/>
                </a:solidFill>
                <a:latin typeface="Aptos"/>
              </a:defRPr>
            </a:pPr>
            <a:r>
              <a:t>Exterior design concept rating by current drive 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99632"/>
            <a:ext cx="10058400" cy="5029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800" b="0">
                <a:solidFill>
                  <a:srgbClr val="5F7072"/>
                </a:solidFill>
                <a:latin typeface="Aptos"/>
              </a:defRPr>
            </a:pPr>
            <a:r>
              <a:t>Source: data-set.csv</a:t>
            </a:r>
            <a:br/>
            <a:r>
              <a:t>Question answered: How does the exterior design concept score differ by current drive type?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000" b="0">
                <a:solidFill>
                  <a:srgbClr val="5F7072"/>
                </a:solidFill>
                <a:latin typeface="Aptos"/>
              </a:defRPr>
            </a:pPr>
            <a:r>
              <a:t>2 / 2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627632"/>
            <a:ext cx="10927080" cy="438912"/>
          </a:xfrm>
          <a:prstGeom prst="rect">
            <a:avLst/>
          </a:prstGeom>
          <a:solidFill>
            <a:srgbClr val="EA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1627632"/>
            <a:ext cx="54864" cy="438912"/>
          </a:xfrm>
          <a:prstGeom prst="rect">
            <a:avLst/>
          </a:prstGeom>
          <a:solidFill>
            <a:srgbClr val="107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682496"/>
            <a:ext cx="1051560" cy="16459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900" b="1">
                <a:solidFill>
                  <a:srgbClr val="107370"/>
                </a:solidFill>
                <a:latin typeface="Aptos"/>
              </a:defRPr>
            </a:pPr>
            <a:r>
              <a:t>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664208"/>
            <a:ext cx="9464040" cy="31089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200" b="1">
                <a:solidFill>
                  <a:srgbClr val="1D3035"/>
                </a:solidFill>
                <a:latin typeface="Aptos"/>
              </a:defRPr>
            </a:pPr>
            <a:r>
              <a:t>BEV scores highest (8.4/10, n=92); PHEV is lowest (7.6/10, n=33).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194560"/>
            <a:ext cx="1078992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100" b="1">
                <a:solidFill>
                  <a:srgbClr val="5F7072"/>
                </a:solidFill>
                <a:latin typeface="Aptos"/>
              </a:defRPr>
            </a:pPr>
            <a:r>
              <a:t>Exterior design concept · mean rating / 10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40080" y="2487168"/>
          <a:ext cx="10881360" cy="1965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0080" y="4572000"/>
          <a:ext cx="1088136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1234440"/>
                <a:gridCol w="1554480"/>
                <a:gridCol w="2148840"/>
                <a:gridCol w="2468880"/>
              </a:tblGrid>
              <a:tr h="274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Subgroup</a:t>
                      </a:r>
                    </a:p>
                  </a:txBody>
                  <a:tcPr>
                    <a:solidFill>
                      <a:srgbClr val="1073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Base (n)</a:t>
                      </a:r>
                    </a:p>
                  </a:txBody>
                  <a:tcPr>
                    <a:solidFill>
                      <a:srgbClr val="1073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Mean / 10</a:t>
                      </a:r>
                    </a:p>
                  </a:txBody>
                  <a:tcPr>
                    <a:solidFill>
                      <a:srgbClr val="1073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Top-box 9-10</a:t>
                      </a:r>
                    </a:p>
                  </a:txBody>
                  <a:tcPr>
                    <a:solidFill>
                      <a:srgbClr val="1073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Bottom-box 1-4</a:t>
                      </a:r>
                    </a:p>
                  </a:txBody>
                  <a:tcPr>
                    <a:solidFill>
                      <a:srgbClr val="10737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BEV</a:t>
                      </a:r>
                    </a:p>
                  </a:txBody>
                  <a:tcPr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92</a:t>
                      </a:r>
                    </a:p>
                  </a:txBody>
                  <a:tcPr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8.4</a:t>
                      </a:r>
                    </a:p>
                  </a:txBody>
                  <a:tcPr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63% (58)</a:t>
                      </a:r>
                    </a:p>
                  </a:txBody>
                  <a:tcPr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5% (5)</a:t>
                      </a:r>
                    </a:p>
                  </a:txBody>
                  <a:tcPr>
                    <a:solidFill>
                      <a:srgbClr val="F5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Combustion engine + hybrid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7.9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45% (35)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4% (3)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PHEV</a:t>
                      </a:r>
                    </a:p>
                  </a:txBody>
                  <a:tcPr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33</a:t>
                      </a:r>
                    </a:p>
                  </a:txBody>
                  <a:tcPr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7.6</a:t>
                      </a:r>
                    </a:p>
                  </a:txBody>
                  <a:tcPr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33% (11)</a:t>
                      </a:r>
                    </a:p>
                  </a:txBody>
                  <a:tcPr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6% (2)</a:t>
                      </a:r>
                    </a:p>
                  </a:txBody>
                  <a:tcPr>
                    <a:solidFill>
                      <a:srgbClr val="F5F8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